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EER %</c:v>
                </c:pt>
              </c:strCache>
            </c:strRef>
          </c:tx>
          <c:spPr>
            <a:solidFill>
              <a:srgbClr val="8A8378"/>
            </a:solidFill>
            <a:ln>
              <a:noFill/>
            </a:ln>
          </c:spPr>
          <c:dPt>
            <c:idx val="0"/>
            <c:spPr>
              <a:solidFill>
                <a:srgbClr val="8A8378"/>
              </a:solidFill>
              <a:ln>
                <a:noFill/>
              </a:ln>
            </c:spPr>
          </c:dPt>
          <c:dPt>
            <c:idx val="1"/>
            <c:spPr>
              <a:solidFill>
                <a:srgbClr val="0C7C46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No VAD</c:v>
                </c:pt>
                <c:pt idx="1">
                  <c:v>Silero VAD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0.625</c:v>
                </c:pt>
                <c:pt idx="1">
                  <c:v>0.536</c:v>
                </c:pt>
              </c:numCache>
            </c:numRef>
          </c:val>
        </c:ser>
        <c:dLbls>
          <c:numFmt formatCode="0.000&quot;%&quot;" sourceLinked="0"/>
          <c:txPr>
            <a:bodyPr/>
            <a:lstStyle/>
            <a:p>
              <a:pPr>
                <a:defRPr sz="1050" b="1">
                  <a:solidFill>
                    <a:srgbClr val="1C1C1E"/>
                  </a:solidFill>
                  <a:latin typeface="Corbe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8DFCE"/>
            </a:solidFill>
          </a:ln>
        </c:spPr>
        <c:txPr>
          <a:bodyPr/>
          <a:lstStyle/>
          <a:p>
            <a:pPr>
              <a:defRPr sz="1050">
                <a:solidFill>
                  <a:srgbClr val="1C1C1E"/>
                </a:solidFill>
                <a:latin typeface="Corbe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6B645C"/>
          </a:solidFill>
          <a:latin typeface="Corbe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Raw ECAPA</c:v>
                </c:pt>
              </c:strCache>
            </c:strRef>
          </c:tx>
          <c:spPr>
            <a:solidFill>
              <a:srgbClr val="8A8378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Clean</c:v>
                </c:pt>
                <c:pt idx="1">
                  <c:v>Babble</c:v>
                </c:pt>
                <c:pt idx="2">
                  <c:v>Music</c:v>
                </c:pt>
                <c:pt idx="3">
                  <c:v>Noise</c:v>
                </c:pt>
                <c:pt idx="4">
                  <c:v>All noisy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</c:v>
                </c:pt>
                <c:pt idx="1">
                  <c:v>18.41</c:v>
                </c:pt>
                <c:pt idx="2">
                  <c:v>12.64</c:v>
                </c:pt>
                <c:pt idx="3">
                  <c:v>6.68</c:v>
                </c:pt>
                <c:pt idx="4">
                  <c:v>12.58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Enhancer + fusion</c:v>
                </c:pt>
              </c:strCache>
            </c:strRef>
          </c:tx>
          <c:spPr>
            <a:solidFill>
              <a:srgbClr val="0C7C46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Clean</c:v>
                </c:pt>
                <c:pt idx="1">
                  <c:v>Babble</c:v>
                </c:pt>
                <c:pt idx="2">
                  <c:v>Music</c:v>
                </c:pt>
                <c:pt idx="3">
                  <c:v>Noise</c:v>
                </c:pt>
                <c:pt idx="4">
                  <c:v>All noisy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0.94</c:v>
                </c:pt>
                <c:pt idx="1">
                  <c:v>10.99</c:v>
                </c:pt>
                <c:pt idx="2">
                  <c:v>10.2</c:v>
                </c:pt>
                <c:pt idx="3">
                  <c:v>5.19</c:v>
                </c:pt>
                <c:pt idx="4">
                  <c:v>8.79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850" b="1">
                  <a:solidFill>
                    <a:srgbClr val="1C1C1E"/>
                  </a:solidFill>
                  <a:latin typeface="Corbe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2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8DFCE"/>
            </a:solidFill>
          </a:ln>
        </c:spPr>
        <c:txPr>
          <a:bodyPr/>
          <a:lstStyle/>
          <a:p>
            <a:pPr>
              <a:defRPr sz="1050">
                <a:solidFill>
                  <a:srgbClr val="1C1C1E"/>
                </a:solidFill>
                <a:latin typeface="Corbe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legend>
      <c:overlay val="0"/>
      <c:txPr>
        <a:bodyPr/>
        <a:lstStyle/>
        <a:p>
          <a:pPr>
            <a:defRPr sz="1050">
              <a:solidFill>
                <a:srgbClr val="6B645C"/>
              </a:solidFill>
              <a:latin typeface="Corbe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1050">
          <a:solidFill>
            <a:srgbClr val="6B645C"/>
          </a:solidFill>
          <a:latin typeface="Corbe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EER %</c:v>
                </c:pt>
              </c:strCache>
            </c:strRef>
          </c:tx>
          <c:spPr>
            <a:solidFill>
              <a:srgbClr val="8A8378"/>
            </a:solidFill>
            <a:ln>
              <a:noFill/>
            </a:ln>
          </c:spPr>
          <c:dPt>
            <c:idx val="0"/>
            <c:spPr>
              <a:solidFill>
                <a:srgbClr val="8A8378"/>
              </a:solidFill>
              <a:ln>
                <a:noFill/>
              </a:ln>
            </c:spPr>
          </c:dPt>
          <c:dPt>
            <c:idx val="1"/>
            <c:spPr>
              <a:solidFill>
                <a:srgbClr val="0C7C46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Log-Mel</c:v>
                </c:pt>
                <c:pt idx="1">
                  <c:v>Inverted Mel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4.9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050" b="1">
                  <a:solidFill>
                    <a:srgbClr val="1C1C1E"/>
                  </a:solidFill>
                  <a:latin typeface="Corbe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5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8DFCE"/>
            </a:solidFill>
          </a:ln>
        </c:spPr>
        <c:txPr>
          <a:bodyPr/>
          <a:lstStyle/>
          <a:p>
            <a:pPr>
              <a:defRPr sz="1050">
                <a:solidFill>
                  <a:srgbClr val="1C1C1E"/>
                </a:solidFill>
                <a:latin typeface="Corbe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none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6B645C"/>
          </a:solidFill>
          <a:latin typeface="Corbe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EER</c:v>
                </c:pt>
              </c:strCache>
            </c:strRef>
          </c:tx>
          <c:dPt>
            <c:idx val="0"/>
            <c:spPr>
              <a:solidFill>
                <a:srgbClr val="D4213D"/>
              </a:solidFill>
              <a:ln>
                <a:noFill/>
              </a:ln>
            </c:spPr>
          </c:dPt>
          <c:dPt>
            <c:idx val="1"/>
            <c:spPr>
              <a:solidFill>
                <a:srgbClr val="8A8378"/>
              </a:solidFill>
              <a:ln>
                <a:noFill/>
              </a:ln>
            </c:spPr>
          </c:dPt>
          <c:dPt>
            <c:idx val="2"/>
            <c:spPr>
              <a:solidFill>
                <a:srgbClr val="0C7C46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ECAPA only</c:v>
                </c:pt>
                <c:pt idx="1">
                  <c:v>+ LFCC</c:v>
                </c:pt>
                <c:pt idx="2">
                  <c:v>+ AASIST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20.67</c:v>
                </c:pt>
                <c:pt idx="1">
                  <c:v>7.13</c:v>
                </c:pt>
                <c:pt idx="2">
                  <c:v>0.83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sz="1150" b="1">
                  <a:solidFill>
                    <a:srgbClr val="1C1C1E"/>
                  </a:solidFill>
                  <a:latin typeface="Corbe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8DFCE"/>
            </a:solidFill>
          </a:ln>
        </c:spPr>
        <c:txPr>
          <a:bodyPr/>
          <a:lstStyle/>
          <a:p>
            <a:pPr>
              <a:defRPr sz="1100">
                <a:solidFill>
                  <a:srgbClr val="1C1C1E"/>
                </a:solidFill>
                <a:latin typeface="Corbe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none"/>
        <c:minorTickMark val="none"/>
        <c:tickLblPos val="nextTo"/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050">
          <a:solidFill>
            <a:srgbClr val="6B645C"/>
          </a:solidFill>
          <a:latin typeface="Corbe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pitch: a voice login that checks who you are, whether the voice is real, and whether it survives noise. (30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Divider. Say one sentence and move on. (10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pain, then the two threats. This slide earns the rest of the talk.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the vocabulary once so the numbers later land. Stress that SASV is the honest metric. (45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value slide. One line per card, do not read them out verbatim.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Divider. (10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right, then down, then the ML panel. Point out the spoof check happens before identity matching. (2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Summarise only: capture, gate, check, embed, fuse, decide.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tables. Web stack left, speech models right, one shared contract. (45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two decisions, ideally 'never enhance blindly' and the spoof gate, because they set up the research.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Divider. (10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from engineering to product. Name one concrete buyer and workflow.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each KPI to a number we measured. End on the responsible-use card.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Divider. (10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three tracks. The right-hand cards are clickable if someone wants to jump. (45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Muditha's scope. This is the part that actually runs in production.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number first, then the honest reading: small EER gain, real robustness gain. (1.5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Yasith's core idea: do not choose between raw and enhanced, learn the blend. (1.5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phases, quickly. Land on the negative result at the bottom. (1.5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strongest research result. All-noisy error 12.58 down to 8.79 with almost no clean cost. (1.5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security track with the literal threat: a recording played back at the microphone. The headline is that the front-end, not the network, decided this result. Inverted Mel puts resolution on high frequencies where the playback speaker and the second microphone leave artefacts, and that alone took 10.00% down to 4.90% on the same CNN. If asked: ASVspoof 2017 V2, 1,040 held-out development files, speaker-disjoint from training. (1.5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boundary slide. Say it plainly: a replay detector trained on one corpus is worthless on another, 50.47% and 39.24% are both chance-level. Off-the-shelf AASIST is no better zero-shot at 64.32%, and a frozen wav2vec2 with a trained head only reached 37.32%, so a small task-trained CNN beats the big pretrained models here. Two fixes work: train on the target corpus (7.96% on PA) or mix corpora (9.18% and 11.00%). Land on the last card: 41.12% on logical access means replay detection cannot see text-to-speech, which is why the next slide brings in AASIST. (2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security track's joint metric. A recording of the real user passes speaker verification.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results. Deliver the failure confidently: it is a finding, not a mistake. (2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 the obvious question about why enhancement worked once and failed once.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demo. If the room audio is unreliable, go straight to the recording. (2-3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limitations before the panel does, each with a next step. (1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three numbers and one sentence, then stop and take questions. (45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5.xml"/><Relationship Id="rId4" Type="http://schemas.openxmlformats.org/officeDocument/2006/relationships/slide" Target="slide16.xml"/><Relationship Id="rId5" Type="http://schemas.openxmlformats.org/officeDocument/2006/relationships/slide" Target="slide18.xml"/><Relationship Id="rId6" Type="http://schemas.openxmlformats.org/officeDocument/2006/relationships/slide" Target="slide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3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3_hero_title_17130f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17720" y="1298448"/>
            <a:ext cx="7315200" cy="4114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13898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60">
                <a:solidFill>
                  <a:srgbClr val="FF8C2A"/>
                </a:solidFill>
                <a:latin typeface="Bahnschrift SemiBold Condensed"/>
              </a:rPr>
              <a:t>FINAL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55648"/>
            <a:ext cx="3703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FBF6EC"/>
                </a:solidFill>
                <a:latin typeface="Sitka Display"/>
              </a:rPr>
              <a:t>Voice-Based Speaker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31920"/>
            <a:ext cx="1325880" cy="45720"/>
          </a:xfrm>
          <a:prstGeom prst="rect">
            <a:avLst/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169663"/>
            <a:ext cx="3703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50" b="0" i="0">
                <a:solidFill>
                  <a:srgbClr val="FF8C2A"/>
                </a:solidFill>
                <a:latin typeface="Corbel"/>
              </a:rPr>
              <a:t>Secure user authentication under spoofing and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75504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 i="0">
                <a:solidFill>
                  <a:srgbClr val="FBF6EC"/>
                </a:solidFill>
                <a:latin typeface="Corbel"/>
              </a:rPr>
              <a:t>Muditha Herath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 i="0">
                <a:solidFill>
                  <a:srgbClr val="FBF6EC"/>
                </a:solidFill>
                <a:latin typeface="Corbel"/>
              </a:rPr>
              <a:t>Yasith Hewarathna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 i="0">
                <a:solidFill>
                  <a:srgbClr val="FBF6EC"/>
                </a:solidFill>
                <a:latin typeface="Corbel"/>
              </a:rPr>
              <a:t>Herath H.M.M.P.B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3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960120"/>
            <a:ext cx="54864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0" b="1" i="0">
                <a:solidFill>
                  <a:srgbClr val="2E241B"/>
                </a:solidFill>
                <a:latin typeface="Sitka Banner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3101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FF8C2A"/>
                </a:solidFill>
                <a:latin typeface="Bahnschrift SemiBold Condensed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21024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400" b="1" i="0">
                <a:solidFill>
                  <a:srgbClr val="FBF6EC"/>
                </a:solidFill>
                <a:latin typeface="Sitka Display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590288"/>
            <a:ext cx="1325880" cy="45720"/>
          </a:xfrm>
          <a:prstGeom prst="rect">
            <a:avLst/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828032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9A9084"/>
                </a:solidFill>
                <a:latin typeface="Corbel"/>
              </a:rPr>
              <a:t>Why a voice alone is not enough to prove who you 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58784" y="3136392"/>
            <a:ext cx="105156" cy="310896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96528" y="3063240"/>
            <a:ext cx="105156" cy="457200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34272" y="2971800"/>
            <a:ext cx="105156" cy="640080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72016" y="2871216"/>
            <a:ext cx="105156" cy="841248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2788920"/>
            <a:ext cx="105156" cy="1005840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47504" y="2724912"/>
            <a:ext cx="105156" cy="1133856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85248" y="2697480"/>
            <a:ext cx="105156" cy="1188720"/>
          </a:xfrm>
          <a:prstGeom prst="roundRect">
            <a:avLst>
              <a:gd name="adj" fmla="val 50000"/>
            </a:avLst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22992" y="2752344"/>
            <a:ext cx="105156" cy="1078992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460736" y="2843784"/>
            <a:ext cx="105156" cy="896112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0" y="2935224"/>
            <a:ext cx="105156" cy="713232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36224" y="3026664"/>
            <a:ext cx="105156" cy="530352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173967" y="3099816"/>
            <a:ext cx="105156" cy="384048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11712" y="3154680"/>
            <a:ext cx="105156" cy="274320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49456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3A3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9A908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A3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A3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A3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A3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9A9084"/>
                </a:solidFill>
                <a:latin typeface="Bahnschrift SemiBold Condense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Why voice
authentication
is hard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564891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802635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45C"/>
                </a:solidFill>
                <a:latin typeface="Corbel"/>
              </a:rPr>
              <a:t>Voice is the most convenient credential we have. It is also the easiest one to record, and the first to break when the room gets loud.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03</a:t>
            </a:r>
          </a:p>
        </p:txBody>
      </p:sp>
      <p:pic>
        <p:nvPicPr>
          <p:cNvPr id="15" name="Picture 14" descr="v3_problem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46320" y="841248"/>
            <a:ext cx="6659849" cy="3746165"/>
          </a:xfrm>
          <a:prstGeom prst="roundRect">
            <a:avLst>
              <a:gd name="adj" fmla="val 3783"/>
            </a:avLst>
          </a:prstGeom>
        </p:spPr>
      </p:pic>
      <p:sp>
        <p:nvSpPr>
          <p:cNvPr id="16" name="Rounded Rectangle 15"/>
          <p:cNvSpPr/>
          <p:nvPr/>
        </p:nvSpPr>
        <p:spPr>
          <a:xfrm>
            <a:off x="4846320" y="4645152"/>
            <a:ext cx="3236976" cy="1389888"/>
          </a:xfrm>
          <a:prstGeom prst="roundRect">
            <a:avLst>
              <a:gd name="adj" fmla="val 10197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65776" y="4864608"/>
            <a:ext cx="50292" cy="950976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1" y="4846320"/>
            <a:ext cx="2651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 spc="160">
                <a:solidFill>
                  <a:srgbClr val="B84E08"/>
                </a:solidFill>
                <a:latin typeface="Bahnschrift SemiBold Condensed"/>
              </a:rPr>
              <a:t>RISK 01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E"/>
                </a:solidFill>
                <a:latin typeface="Corbel"/>
              </a:rPr>
              <a:t>Spoof and replay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An attacker plays back a recording of the real user.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4645152"/>
            <a:ext cx="3236976" cy="1389888"/>
          </a:xfrm>
          <a:prstGeom prst="roundRect">
            <a:avLst>
              <a:gd name="adj" fmla="val 10197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85632" y="4864608"/>
            <a:ext cx="50292" cy="950976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4846320"/>
            <a:ext cx="26517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 spc="160">
                <a:solidFill>
                  <a:srgbClr val="B84E08"/>
                </a:solidFill>
                <a:latin typeface="Bahnschrift SemiBold Condensed"/>
              </a:rPr>
              <a:t>RISK 02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E"/>
                </a:solidFill>
                <a:latin typeface="Corbel"/>
              </a:rPr>
              <a:t>Background noise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Street, office and babble noise break the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What we
measure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488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86584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45C"/>
                </a:solidFill>
                <a:latin typeface="Corbel"/>
              </a:rPr>
              <a:t>Equal Error Rate, or EER, is the operating point where false accepts and false rejects are equal. Lower is better.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04</a:t>
            </a:r>
          </a:p>
        </p:txBody>
      </p:sp>
      <p:pic>
        <p:nvPicPr>
          <p:cNvPr id="15" name="Picture 14" descr="v3_icon_shield_fbf6ec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1520" y="4956048"/>
            <a:ext cx="1188720" cy="11887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846320" y="932688"/>
            <a:ext cx="6659849" cy="1243584"/>
          </a:xfrm>
          <a:prstGeom prst="roundRect">
            <a:avLst>
              <a:gd name="adj" fmla="val 11397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84064" y="1133856"/>
            <a:ext cx="50292" cy="84124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21808" y="1133856"/>
            <a:ext cx="588260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950" b="1" i="0" spc="160">
                <a:solidFill>
                  <a:srgbClr val="B84E08"/>
                </a:solidFill>
                <a:latin typeface="Bahnschrift SemiBold Condensed"/>
              </a:rPr>
              <a:t>SV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1C1C1E"/>
                </a:solidFill>
                <a:latin typeface="Corbel"/>
              </a:rPr>
              <a:t>Is this the claimed speaker?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Compares a probe against one enrolled template.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2322576"/>
            <a:ext cx="6659849" cy="1243584"/>
          </a:xfrm>
          <a:prstGeom prst="roundRect">
            <a:avLst>
              <a:gd name="adj" fmla="val 11397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84064" y="2523744"/>
            <a:ext cx="50292" cy="84124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2523744"/>
            <a:ext cx="588260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950" b="1" i="0" spc="160">
                <a:solidFill>
                  <a:srgbClr val="B84E08"/>
                </a:solidFill>
                <a:latin typeface="Bahnschrift SemiBold Condensed"/>
              </a:rPr>
              <a:t>ANTI-SPOOF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1C1C1E"/>
                </a:solidFill>
                <a:latin typeface="Corbel"/>
              </a:rPr>
              <a:t>Is this live speech or a fake?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Flags replayed and synthetic audio before scoring.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3712464"/>
            <a:ext cx="6659849" cy="1243584"/>
          </a:xfrm>
          <a:prstGeom prst="roundRect">
            <a:avLst>
              <a:gd name="adj" fmla="val 11397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84064" y="3913632"/>
            <a:ext cx="50292" cy="84124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21808" y="3913632"/>
            <a:ext cx="588260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950" b="1" i="0" spc="160">
                <a:solidFill>
                  <a:srgbClr val="B84E08"/>
                </a:solidFill>
                <a:latin typeface="Bahnschrift SemiBold Condensed"/>
              </a:rPr>
              <a:t>SASV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 i="0">
                <a:solidFill>
                  <a:srgbClr val="1C1C1E"/>
                </a:solidFill>
                <a:latin typeface="Corbel"/>
              </a:rPr>
              <a:t>Both checks in a single score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Accepts only a genuine speaker speaking live.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5138928"/>
            <a:ext cx="6659849" cy="896112"/>
          </a:xfrm>
          <a:prstGeom prst="roundRect">
            <a:avLst>
              <a:gd name="adj" fmla="val 15816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5285232"/>
            <a:ext cx="6147785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E"/>
                </a:solidFill>
                <a:latin typeface="Corbel"/>
              </a:rPr>
              <a:t>Protocol discipline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4A2E0A"/>
                </a:solidFill>
                <a:latin typeface="Corbel"/>
              </a:rPr>
              <a:t>Thresholds are tuned on the development set. The evaluation set is reported once, with no further tuning.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45C"/>
                </a:solidFill>
                <a:latin typeface="Corbel"/>
              </a:rPr>
              <a:t>Four reasons this is worth building, and worth trusting.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05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084831"/>
            <a:ext cx="2560320" cy="3017520"/>
          </a:xfrm>
          <a:prstGeom prst="roundRect">
            <a:avLst>
              <a:gd name="adj" fmla="val 5535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2084831"/>
            <a:ext cx="2560320" cy="68580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pic>
        <p:nvPicPr>
          <p:cNvPr id="17" name="Picture 16" descr="v3_icon_mic_ffffff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08760" y="2432304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3584448"/>
            <a:ext cx="201168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500" b="1" i="0">
                <a:solidFill>
                  <a:srgbClr val="1C1C1E"/>
                </a:solidFill>
                <a:latin typeface="Sitka Display"/>
              </a:rPr>
              <a:t>Frictionless</a:t>
            </a:r>
          </a:p>
          <a:p>
            <a:pPr algn="ctr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No password typing and no code to wait for on repeat logins.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38144" y="2084831"/>
            <a:ext cx="2560320" cy="3017520"/>
          </a:xfrm>
          <a:prstGeom prst="roundRect">
            <a:avLst>
              <a:gd name="adj" fmla="val 5535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38144" y="2084831"/>
            <a:ext cx="2560320" cy="68580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pic>
        <p:nvPicPr>
          <p:cNvPr id="21" name="Picture 20" descr="v3_icon_shield_fffff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61104" y="2432304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712463" y="3584448"/>
            <a:ext cx="201168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500" b="1" i="0">
                <a:solidFill>
                  <a:srgbClr val="1C1C1E"/>
                </a:solidFill>
                <a:latin typeface="Sitka Display"/>
              </a:rPr>
              <a:t>Spoof aware</a:t>
            </a:r>
          </a:p>
          <a:p>
            <a:pPr algn="ctr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A recorded voice is detected and rejected before any scoring.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2084831"/>
            <a:ext cx="2560320" cy="3017520"/>
          </a:xfrm>
          <a:prstGeom prst="roundRect">
            <a:avLst>
              <a:gd name="adj" fmla="val 5535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90488" y="2084831"/>
            <a:ext cx="2560320" cy="68580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pic>
        <p:nvPicPr>
          <p:cNvPr id="25" name="Picture 24" descr="v3_icon_enhance_ffffff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13448" y="2432304"/>
            <a:ext cx="914400" cy="914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64807" y="3584448"/>
            <a:ext cx="201168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500" b="1" i="0">
                <a:solidFill>
                  <a:srgbClr val="1C1C1E"/>
                </a:solidFill>
                <a:latin typeface="Sitka Display"/>
              </a:rPr>
              <a:t>Noise ready</a:t>
            </a:r>
          </a:p>
          <a:p>
            <a:pPr algn="ctr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Enhancement and learned fusion hold accuracy up in noise.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42832" y="2084831"/>
            <a:ext cx="2560320" cy="3017520"/>
          </a:xfrm>
          <a:prstGeom prst="roundRect">
            <a:avLst>
              <a:gd name="adj" fmla="val 5535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42832" y="2084831"/>
            <a:ext cx="2560320" cy="68580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pic>
        <p:nvPicPr>
          <p:cNvPr id="29" name="Picture 28" descr="v3_icon_deploy_ffffff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765792" y="2432304"/>
            <a:ext cx="914400" cy="914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17152" y="3584448"/>
            <a:ext cx="201168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500" b="1" i="0">
                <a:solidFill>
                  <a:srgbClr val="1C1C1E"/>
                </a:solidFill>
                <a:latin typeface="Sitka Display"/>
              </a:rPr>
              <a:t>Deployed</a:t>
            </a:r>
          </a:p>
          <a:p>
            <a:pPr algn="ctr">
              <a:lnSpc>
                <a:spcPct val="128000"/>
              </a:lnSpc>
              <a:spcAft>
                <a:spcPts val="70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A running web stack with automated build and deploy to cloud.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541264"/>
            <a:ext cx="108203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700"/>
              </a:spcAft>
            </a:pPr>
            <a:r>
              <a:rPr sz="1200" b="1" i="0">
                <a:solidFill>
                  <a:srgbClr val="B84E08"/>
                </a:solidFill>
                <a:latin typeface="Bahnschrift SemiBold Condensed"/>
              </a:rPr>
              <a:t>Fintech  ·  call centres  ·  access control  ·  passwordless consumer apps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720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960120"/>
            <a:ext cx="54864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0" b="1" i="0">
                <a:solidFill>
                  <a:srgbClr val="D06303"/>
                </a:solidFill>
                <a:latin typeface="Sitka Banner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3101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4A2E0A"/>
                </a:solidFill>
                <a:latin typeface="Bahnschrift SemiBold Condensed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21024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400" b="1" i="0">
                <a:solidFill>
                  <a:srgbClr val="1C1C1E"/>
                </a:solidFill>
                <a:latin typeface="Sitka Display"/>
              </a:rPr>
              <a:t>The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590288"/>
            <a:ext cx="1325880" cy="45720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828032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1C1C1E"/>
                </a:solidFill>
                <a:latin typeface="Corbel"/>
              </a:rPr>
              <a:t>One architecture from the browser to the speaker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58784" y="3136392"/>
            <a:ext cx="105156" cy="310896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96528" y="3063240"/>
            <a:ext cx="105156" cy="457200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34272" y="2971800"/>
            <a:ext cx="105156" cy="640080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72016" y="2871216"/>
            <a:ext cx="105156" cy="841248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2788920"/>
            <a:ext cx="105156" cy="1005840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47504" y="2724912"/>
            <a:ext cx="105156" cy="1133856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85248" y="2697480"/>
            <a:ext cx="105156" cy="118872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22992" y="2752344"/>
            <a:ext cx="105156" cy="1078992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460736" y="2843784"/>
            <a:ext cx="105156" cy="896112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0" y="2935224"/>
            <a:ext cx="105156" cy="713232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36224" y="3026664"/>
            <a:ext cx="105156" cy="530352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173967" y="3099816"/>
            <a:ext cx="105156" cy="384048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11712" y="3154680"/>
            <a:ext cx="105156" cy="274320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49456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06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4A2E0A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06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06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06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06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4A2E0A"/>
                </a:solidFill>
                <a:latin typeface="Bahnschrift SemiBold Condense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3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FF8C2A"/>
                </a:solidFill>
                <a:latin typeface="Bahnschrift SemiBold Condensed"/>
              </a:rP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8778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FBF6EC"/>
                </a:solidFill>
                <a:latin typeface="Sitka Display"/>
              </a:rPr>
              <a:t>End-to-end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591056"/>
            <a:ext cx="1325880" cy="41148"/>
          </a:xfrm>
          <a:prstGeom prst="rect">
            <a:avLst/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3A3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9A908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A3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A3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A3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A3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9A9084"/>
                </a:solidFill>
                <a:latin typeface="Bahnschrift SemiBold Condensed"/>
              </a:rPr>
              <a:t>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20240"/>
            <a:ext cx="2834640" cy="1152144"/>
          </a:xfrm>
          <a:prstGeom prst="roundRect">
            <a:avLst>
              <a:gd name="adj" fmla="val 12301"/>
            </a:avLst>
          </a:prstGeom>
          <a:solidFill>
            <a:srgbClr val="221C16"/>
          </a:solidFill>
          <a:ln w="11430">
            <a:solidFill>
              <a:srgbClr val="3A31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1920240"/>
            <a:ext cx="2834640" cy="59436"/>
          </a:xfrm>
          <a:prstGeom prst="roundRect">
            <a:avLst>
              <a:gd name="adj" fmla="val 50000"/>
            </a:avLst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121408"/>
            <a:ext cx="23957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FBF6EC"/>
                </a:solidFill>
                <a:latin typeface="Sitka Display"/>
              </a:rPr>
              <a:t>Client  ·  React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 i="0">
                <a:solidFill>
                  <a:srgbClr val="9A9084"/>
                </a:solidFill>
                <a:latin typeface="Corbel"/>
              </a:rPr>
              <a:t>Record  ·  enroll  ·  verify  ·  1:N login</a:t>
            </a:r>
          </a:p>
          <a:p>
            <a:pPr>
              <a:spcAft>
                <a:spcPts val="0"/>
              </a:spcAft>
            </a:pPr>
            <a:r>
              <a:rPr sz="850" b="1" i="0" spc="160">
                <a:solidFill>
                  <a:srgbClr val="FF8C2A"/>
                </a:solidFill>
                <a:latin typeface="Bahnschrift SemiBold Condensed"/>
              </a:rPr>
              <a:t>MUDITHA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639312" y="2322576"/>
            <a:ext cx="475488" cy="329184"/>
          </a:xfrm>
          <a:prstGeom prst="rightArrow">
            <a:avLst/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42816" y="1920240"/>
            <a:ext cx="2834640" cy="1152144"/>
          </a:xfrm>
          <a:prstGeom prst="roundRect">
            <a:avLst>
              <a:gd name="adj" fmla="val 12301"/>
            </a:avLst>
          </a:prstGeom>
          <a:solidFill>
            <a:srgbClr val="221C16"/>
          </a:solidFill>
          <a:ln w="11430">
            <a:solidFill>
              <a:srgbClr val="3A31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42816" y="1920240"/>
            <a:ext cx="2834640" cy="59436"/>
          </a:xfrm>
          <a:prstGeom prst="roundRect">
            <a:avLst>
              <a:gd name="adj" fmla="val 50000"/>
            </a:avLst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2121408"/>
            <a:ext cx="23957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FBF6EC"/>
                </a:solidFill>
                <a:latin typeface="Sitka Display"/>
              </a:rPr>
              <a:t>Backend  ·  Express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 i="0">
                <a:solidFill>
                  <a:srgbClr val="9A9084"/>
                </a:solidFill>
                <a:latin typeface="Corbel"/>
              </a:rPr>
              <a:t>JWT auth  ·  uploads  ·  orchestration</a:t>
            </a:r>
          </a:p>
          <a:p>
            <a:pPr>
              <a:spcAft>
                <a:spcPts val="0"/>
              </a:spcAft>
            </a:pPr>
            <a:r>
              <a:rPr sz="850" b="1" i="0" spc="160">
                <a:solidFill>
                  <a:srgbClr val="FF8C2A"/>
                </a:solidFill>
                <a:latin typeface="Bahnschrift SemiBold Condensed"/>
              </a:rPr>
              <a:t>MUDITHA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23760" y="2322576"/>
            <a:ext cx="475488" cy="329184"/>
          </a:xfrm>
          <a:prstGeom prst="rightArrow">
            <a:avLst/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1901952" y="3145536"/>
            <a:ext cx="310896" cy="384048"/>
          </a:xfrm>
          <a:prstGeom prst="downArrow">
            <a:avLst/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3621024"/>
            <a:ext cx="2834640" cy="1152144"/>
          </a:xfrm>
          <a:prstGeom prst="roundRect">
            <a:avLst>
              <a:gd name="adj" fmla="val 12301"/>
            </a:avLst>
          </a:prstGeom>
          <a:solidFill>
            <a:srgbClr val="221C16"/>
          </a:solidFill>
          <a:ln w="11430">
            <a:solidFill>
              <a:srgbClr val="3A31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3621024"/>
            <a:ext cx="2834640" cy="59436"/>
          </a:xfrm>
          <a:prstGeom prst="roundRect">
            <a:avLst>
              <a:gd name="adj" fmla="val 50000"/>
            </a:avLst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3822191"/>
            <a:ext cx="23957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FBF6EC"/>
                </a:solidFill>
                <a:latin typeface="Sitka Display"/>
              </a:rPr>
              <a:t>Enrollment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 i="0">
                <a:solidFill>
                  <a:srgbClr val="9A9084"/>
                </a:solidFill>
                <a:latin typeface="Corbel"/>
              </a:rPr>
              <a:t>N clips → VAD → embed → L2-norm → average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5504688" y="3145536"/>
            <a:ext cx="310896" cy="384048"/>
          </a:xfrm>
          <a:prstGeom prst="downArrow">
            <a:avLst/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42816" y="3621024"/>
            <a:ext cx="2834640" cy="1152144"/>
          </a:xfrm>
          <a:prstGeom prst="roundRect">
            <a:avLst>
              <a:gd name="adj" fmla="val 12301"/>
            </a:avLst>
          </a:prstGeom>
          <a:solidFill>
            <a:srgbClr val="221C16"/>
          </a:solidFill>
          <a:ln w="11430">
            <a:solidFill>
              <a:srgbClr val="3A31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42816" y="3621024"/>
            <a:ext cx="2834640" cy="59436"/>
          </a:xfrm>
          <a:prstGeom prst="roundRect">
            <a:avLst>
              <a:gd name="adj" fmla="val 50000"/>
            </a:avLst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3822191"/>
            <a:ext cx="23957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FBF6EC"/>
                </a:solidFill>
                <a:latin typeface="Sitka Display"/>
              </a:rPr>
              <a:t>PostgreSQL + pgvector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 i="0">
                <a:solidFill>
                  <a:srgbClr val="9A9084"/>
                </a:solidFill>
                <a:latin typeface="Corbel"/>
              </a:rPr>
              <a:t>vector(192) templates  ·  HNSW cosine</a:t>
            </a:r>
          </a:p>
          <a:p>
            <a:pPr>
              <a:spcAft>
                <a:spcPts val="0"/>
              </a:spcAft>
            </a:pPr>
            <a:r>
              <a:rPr sz="850" b="1" i="0" spc="160">
                <a:solidFill>
                  <a:srgbClr val="FF8C2A"/>
                </a:solidFill>
                <a:latin typeface="Bahnschrift SemiBold Condensed"/>
              </a:rPr>
              <a:t>MUDITHA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27264" y="1920240"/>
            <a:ext cx="3675887" cy="3639312"/>
          </a:xfrm>
          <a:prstGeom prst="roundRect">
            <a:avLst>
              <a:gd name="adj" fmla="val 3894"/>
            </a:avLst>
          </a:prstGeom>
          <a:solidFill>
            <a:srgbClr val="221C16"/>
          </a:solidFill>
          <a:ln w="11430">
            <a:solidFill>
              <a:srgbClr val="6B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2084831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FF8C2A"/>
                </a:solidFill>
                <a:latin typeface="Bahnschrift SemiBold Condensed"/>
              </a:rPr>
              <a:t>ML SERVER  ·  FASTAPI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2450592"/>
            <a:ext cx="3236976" cy="475488"/>
          </a:xfrm>
          <a:prstGeom prst="roundRect">
            <a:avLst>
              <a:gd name="adj" fmla="val 23076"/>
            </a:avLst>
          </a:prstGeom>
          <a:solidFill>
            <a:srgbClr val="2B2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93024" y="2560320"/>
            <a:ext cx="45720" cy="256032"/>
          </a:xfrm>
          <a:prstGeom prst="roundRect">
            <a:avLst>
              <a:gd name="adj" fmla="val 50000"/>
            </a:avLst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5904" y="25146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BF6EC"/>
                </a:solidFill>
                <a:latin typeface="Corbel"/>
              </a:rPr>
              <a:t>01  Silero VAD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9A9084"/>
                </a:solidFill>
                <a:latin typeface="Corbel"/>
              </a:rPr>
              <a:t>keep speech, drop silence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2971800"/>
            <a:ext cx="3236976" cy="475488"/>
          </a:xfrm>
          <a:prstGeom prst="roundRect">
            <a:avLst>
              <a:gd name="adj" fmla="val 23076"/>
            </a:avLst>
          </a:prstGeom>
          <a:solidFill>
            <a:srgbClr val="2B2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93024" y="3081528"/>
            <a:ext cx="45720" cy="256032"/>
          </a:xfrm>
          <a:prstGeom prst="roundRect">
            <a:avLst>
              <a:gd name="adj" fmla="val 50000"/>
            </a:avLst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75904" y="303580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BF6EC"/>
                </a:solidFill>
                <a:latin typeface="Corbel"/>
              </a:rPr>
              <a:t>02  Anti-spoof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9A9084"/>
                </a:solidFill>
                <a:latin typeface="Corbel"/>
              </a:rPr>
              <a:t>high risk → reject early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3493008"/>
            <a:ext cx="3236976" cy="475488"/>
          </a:xfrm>
          <a:prstGeom prst="roundRect">
            <a:avLst>
              <a:gd name="adj" fmla="val 23076"/>
            </a:avLst>
          </a:prstGeom>
          <a:solidFill>
            <a:srgbClr val="2B2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93024" y="3602736"/>
            <a:ext cx="45720" cy="256032"/>
          </a:xfrm>
          <a:prstGeom prst="roundRect">
            <a:avLst>
              <a:gd name="adj" fmla="val 50000"/>
            </a:avLst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75904" y="3557015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BF6EC"/>
                </a:solidFill>
                <a:latin typeface="Corbel"/>
              </a:rPr>
              <a:t>03  Enhancement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9A9084"/>
                </a:solidFill>
                <a:latin typeface="Corbel"/>
              </a:rPr>
              <a:t>WebRTC / Wave-U-Net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4014215"/>
            <a:ext cx="3236976" cy="475488"/>
          </a:xfrm>
          <a:prstGeom prst="roundRect">
            <a:avLst>
              <a:gd name="adj" fmla="val 23076"/>
            </a:avLst>
          </a:prstGeom>
          <a:solidFill>
            <a:srgbClr val="2B2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93024" y="4123944"/>
            <a:ext cx="45720" cy="256032"/>
          </a:xfrm>
          <a:prstGeom prst="roundRect">
            <a:avLst>
              <a:gd name="adj" fmla="val 50000"/>
            </a:avLst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75904" y="407822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BF6EC"/>
                </a:solidFill>
                <a:latin typeface="Corbel"/>
              </a:rPr>
              <a:t>04  ECAPA ± TitaNet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9A9084"/>
                </a:solidFill>
                <a:latin typeface="Corbel"/>
              </a:rPr>
              <a:t>192-D speaker embedding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4535424"/>
            <a:ext cx="3236976" cy="475488"/>
          </a:xfrm>
          <a:prstGeom prst="roundRect">
            <a:avLst>
              <a:gd name="adj" fmla="val 23076"/>
            </a:avLst>
          </a:prstGeom>
          <a:solidFill>
            <a:srgbClr val="2B2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93024" y="4645152"/>
            <a:ext cx="45720" cy="256032"/>
          </a:xfrm>
          <a:prstGeom prst="roundRect">
            <a:avLst>
              <a:gd name="adj" fmla="val 50000"/>
            </a:avLst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75904" y="459943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BF6EC"/>
                </a:solidFill>
                <a:latin typeface="Corbel"/>
              </a:rPr>
              <a:t>05  Fusion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9A9084"/>
                </a:solidFill>
                <a:latin typeface="Corbel"/>
              </a:rPr>
              <a:t>blend raw and enhanced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20" y="5056632"/>
            <a:ext cx="3236976" cy="475488"/>
          </a:xfrm>
          <a:prstGeom prst="roundRect">
            <a:avLst>
              <a:gd name="adj" fmla="val 23076"/>
            </a:avLst>
          </a:prstGeom>
          <a:solidFill>
            <a:srgbClr val="2B23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193024" y="5166360"/>
            <a:ext cx="45720" cy="256032"/>
          </a:xfrm>
          <a:prstGeom prst="roundRect">
            <a:avLst>
              <a:gd name="adj" fmla="val 50000"/>
            </a:avLst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75904" y="512064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BF6EC"/>
                </a:solidFill>
                <a:latin typeface="Corbel"/>
              </a:rPr>
              <a:t>06  Cosine + threshold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9A9084"/>
                </a:solidFill>
                <a:latin typeface="Corbel"/>
              </a:rPr>
              <a:t>accept / reject + scores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5632704"/>
            <a:ext cx="10820369" cy="475488"/>
          </a:xfrm>
          <a:prstGeom prst="roundRect">
            <a:avLst>
              <a:gd name="adj" fmla="val 23076"/>
            </a:avLst>
          </a:prstGeom>
          <a:solidFill>
            <a:srgbClr val="2E1C0B"/>
          </a:solidFill>
          <a:ln w="11430">
            <a:solidFill>
              <a:srgbClr val="7A4A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" y="576986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000" b="1" i="0">
                <a:solidFill>
                  <a:srgbClr val="FF8C2A"/>
                </a:solidFill>
                <a:latin typeface="Bahnschrift SemiBold Condensed"/>
              </a:rPr>
              <a:t>DEPLOY     </a:t>
            </a:r>
            <a:r>
              <a:rPr sz="1050" b="0" i="0">
                <a:solidFill>
                  <a:srgbClr val="FF8C2A"/>
                </a:solidFill>
                <a:latin typeface="Corbel"/>
              </a:rPr>
              <a:t>GitHub main  →  build images (GHCR)  →  SSH deploy  →  docker compose pull &amp;&amp; up  on EC2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The verification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45C"/>
                </a:solidFill>
                <a:latin typeface="Corbel"/>
              </a:rPr>
              <a:t>Nine steps from a microphone to an accept or reject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08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1938528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" y="2212848"/>
            <a:ext cx="585216" cy="585216"/>
          </a:xfrm>
          <a:prstGeom prst="ellipse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236829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BF6EC"/>
                </a:solidFill>
                <a:latin typeface="Bahnschrift SemiBold Condensed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36776" y="2194560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E"/>
                </a:solidFill>
                <a:latin typeface="Sitka Display"/>
              </a:rPr>
              <a:t>Capture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Browser recording or uploaded WAV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1" y="1938528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08575" y="2212848"/>
            <a:ext cx="585216" cy="585216"/>
          </a:xfrm>
          <a:prstGeom prst="ellipse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5" y="236829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BF6EC"/>
                </a:solidFill>
                <a:latin typeface="Bahnschrift SemiBold Condensed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7" y="2194560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E"/>
                </a:solidFill>
                <a:latin typeface="Sitka Display"/>
              </a:rPr>
              <a:t>Normalise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16 kHz, mono, float32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55863" y="1938528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93607" y="2212848"/>
            <a:ext cx="585216" cy="585216"/>
          </a:xfrm>
          <a:prstGeom prst="ellipse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7" y="2368296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BF6EC"/>
                </a:solidFill>
                <a:latin typeface="Bahnschrift SemiBold Condense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39" y="2194560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E"/>
                </a:solidFill>
                <a:latin typeface="Sitka Display"/>
              </a:rPr>
              <a:t>Silero VAD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Speech only; reject silent clips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255264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23544" y="3529584"/>
            <a:ext cx="585216" cy="585216"/>
          </a:xfrm>
          <a:prstGeom prst="ellipse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" y="3685032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BF6EC"/>
                </a:solidFill>
                <a:latin typeface="Bahnschrift SemiBold Condense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36776" y="3511296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E"/>
                </a:solidFill>
                <a:latin typeface="Sitka Display"/>
              </a:rPr>
              <a:t>Anti-spoof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Replay risk → reject early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1" y="3255264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08575" y="3529584"/>
            <a:ext cx="585216" cy="585216"/>
          </a:xfrm>
          <a:prstGeom prst="ellipse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08575" y="3685032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BF6EC"/>
                </a:solidFill>
                <a:latin typeface="Bahnschrift SemiBold Condensed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7" y="3511296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E"/>
                </a:solidFill>
                <a:latin typeface="Sitka Display"/>
              </a:rPr>
              <a:t>Enhancement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WebRTC or Wave-U-Net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5863" y="3255264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93607" y="3529584"/>
            <a:ext cx="585216" cy="585216"/>
          </a:xfrm>
          <a:prstGeom prst="ellipse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3607" y="3685032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BF6EC"/>
                </a:solidFill>
                <a:latin typeface="Bahnschrift SemiBold Condensed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39" y="3511296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E"/>
                </a:solidFill>
                <a:latin typeface="Sitka Display"/>
              </a:rPr>
              <a:t>Embedding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ECAPA-TDNN, 192 dimensions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4572000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3544" y="4846320"/>
            <a:ext cx="585216" cy="585216"/>
          </a:xfrm>
          <a:prstGeom prst="ellipse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" y="500176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BF6EC"/>
                </a:solidFill>
                <a:latin typeface="Bahnschrift SemiBold Condensed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36776" y="4828032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E"/>
                </a:solidFill>
                <a:latin typeface="Sitka Display"/>
              </a:rPr>
              <a:t>Fusion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Learned blend, raw and enhanced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70831" y="4572000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608575" y="4846320"/>
            <a:ext cx="585216" cy="585216"/>
          </a:xfrm>
          <a:prstGeom prst="ellipse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08575" y="500176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BF6EC"/>
                </a:solidFill>
                <a:latin typeface="Bahnschrift SemiBold Condensed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21807" y="4828032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E"/>
                </a:solidFill>
                <a:latin typeface="Sitka Display"/>
              </a:rPr>
              <a:t>Cosine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Score against the template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55863" y="4572000"/>
            <a:ext cx="3456432" cy="11338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293607" y="4846320"/>
            <a:ext cx="585216" cy="585216"/>
          </a:xfrm>
          <a:prstGeom prst="ellipse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93607" y="5001768"/>
            <a:ext cx="585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00"/>
              </a:spcAft>
            </a:pPr>
            <a:r>
              <a:rPr sz="1250" b="1" i="0">
                <a:solidFill>
                  <a:srgbClr val="FBF6EC"/>
                </a:solidFill>
                <a:latin typeface="Bahnschrift SemiBold Condensed"/>
              </a:rPr>
              <a:t>09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39" y="4828032"/>
            <a:ext cx="2267711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50" b="1" i="0">
                <a:solidFill>
                  <a:srgbClr val="1C1C1E"/>
                </a:solidFill>
                <a:latin typeface="Sitka Display"/>
              </a:rPr>
              <a:t>Threshold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Accept or reject, score returned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888736"/>
            <a:ext cx="108203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00" b="1" i="0">
                <a:solidFill>
                  <a:srgbClr val="B84E08"/>
                </a:solidFill>
                <a:latin typeface="Bahnschrift SemiBold Condensed"/>
              </a:rPr>
              <a:t>ENROLLMENT     </a:t>
            </a:r>
            <a:r>
              <a:rPr sz="1150" b="0" i="0">
                <a:solidFill>
                  <a:srgbClr val="6B645C"/>
                </a:solidFill>
                <a:latin typeface="Corbel"/>
              </a:rPr>
              <a:t>several utterances  →  VAD  →  embed  →  L2-normalise  →  average  →  store in pgvector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45C"/>
                </a:solidFill>
                <a:latin typeface="Corbel"/>
              </a:rPr>
              <a:t>A conventional web stack in front of a speech model server.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09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" y="1975104"/>
          <a:ext cx="5257800" cy="2980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34747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BF6EC"/>
                          </a:solidFill>
                          <a:latin typeface="Bahnschrift SemiBold Condensed"/>
                        </a:rPr>
                        <a:t>Application layer</a:t>
                      </a:r>
                    </a:p>
                  </a:txBody>
                  <a:tcPr anchor="ctr" marL="128016" marR="91440" marT="18288" marB="18288">
                    <a:solidFill>
                      <a:srgbClr val="B84E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BF6EC"/>
                          </a:solidFill>
                          <a:latin typeface="Bahnschrift SemiBold Condensed"/>
                        </a:rPr>
                        <a:t>Technology</a:t>
                      </a:r>
                    </a:p>
                  </a:txBody>
                  <a:tcPr anchor="ctr" marL="128016" marR="91440" marT="18288" marB="18288">
                    <a:solidFill>
                      <a:srgbClr val="B84E0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Frontend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React + Vite, MediaRecorder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Backend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Node.js / Express, JWT, Multer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Database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PostgreSQL + pgvector, HNSW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API surface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/enroll/template, /verify, /replay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Deployment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Docker Compose, GHCR, Actions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45352" y="1975104"/>
          <a:ext cx="5257800" cy="2980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347472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BF6EC"/>
                          </a:solidFill>
                          <a:latin typeface="Bahnschrift SemiBold Condensed"/>
                        </a:rPr>
                        <a:t>Model layer</a:t>
                      </a:r>
                    </a:p>
                  </a:txBody>
                  <a:tcPr anchor="ctr" marL="128016" marR="91440" marT="18288" marB="1828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BF6EC"/>
                          </a:solidFill>
                          <a:latin typeface="Bahnschrift SemiBold Condensed"/>
                        </a:rPr>
                        <a:t>Technology</a:t>
                      </a:r>
                    </a:p>
                  </a:txBody>
                  <a:tcPr anchor="ctr" marL="128016" marR="91440" marT="18288" marB="18288">
                    <a:solidFill>
                      <a:srgbClr val="1C1C1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Speech gating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Silero VAD (ONNX)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Speaker encoder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SpeechBrain ECAPA-TDNN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Second encoder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NVIDIA NeMo TitaNet-Large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Enhancement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WebRTC NS, tuned Wave-U-Net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Anti-spoof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Replay CNN, AASIST, LFCC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85800" y="5230368"/>
            <a:ext cx="10820369" cy="859536"/>
          </a:xfrm>
          <a:prstGeom prst="roundRect">
            <a:avLst>
              <a:gd name="adj" fmla="val 16489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376672"/>
            <a:ext cx="10308305" cy="5669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E"/>
                </a:solidFill>
                <a:latin typeface="Corbel"/>
              </a:rPr>
              <a:t>One contract across the whole system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4A2E0A"/>
                </a:solidFill>
                <a:latin typeface="Corbel"/>
              </a:rPr>
              <a:t>Audio is always 16 kHz mono float32 and embeddings are always 192-D and L2-normalised, so the product path and the research notebooks score the same 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Key design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45C"/>
                </a:solidFill>
                <a:latin typeface="Corbel"/>
              </a:rPr>
              <a:t>Six choices that shaped the system, and the reason behind 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029968"/>
            <a:ext cx="5257800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5256" y="2304288"/>
            <a:ext cx="50292" cy="676656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176272"/>
            <a:ext cx="46177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E"/>
                </a:solidFill>
                <a:latin typeface="Sitka Display"/>
              </a:rPr>
              <a:t>Average several enrollment clips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A single utterance overfits to one recording session.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029968"/>
            <a:ext cx="5257800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64808" y="2304288"/>
            <a:ext cx="50292" cy="676656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2176272"/>
            <a:ext cx="46177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E"/>
                </a:solidFill>
                <a:latin typeface="Sitka Display"/>
              </a:rPr>
              <a:t>Run VAD before scoring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Silence and room tone corrupt the embedding.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01568"/>
            <a:ext cx="5257800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" y="3675888"/>
            <a:ext cx="50292" cy="676656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547872"/>
            <a:ext cx="46177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E"/>
                </a:solidFill>
                <a:latin typeface="Sitka Display"/>
              </a:rPr>
              <a:t>Never enhance blindly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Enhancement can hurt, so the fusion learns when to trust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3401568"/>
            <a:ext cx="5257800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64808" y="3675888"/>
            <a:ext cx="50292" cy="676656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2" y="3547872"/>
            <a:ext cx="46177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E"/>
                </a:solidFill>
                <a:latin typeface="Sitka Display"/>
              </a:rPr>
              <a:t>Put the spoof gate inside the decision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Security first: reject replay before identity matching.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773168"/>
            <a:ext cx="5257800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5256" y="5047488"/>
            <a:ext cx="50292" cy="676656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919472"/>
            <a:ext cx="46177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E"/>
                </a:solidFill>
                <a:latin typeface="Sitka Display"/>
              </a:rPr>
              <a:t>Two encoder slots in the database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ECAPA and TitaNet templates live side by side.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4773168"/>
            <a:ext cx="5257800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64808" y="5047488"/>
            <a:ext cx="50292" cy="676656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919472"/>
            <a:ext cx="461772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1C1C1E"/>
                </a:solidFill>
                <a:latin typeface="Sitka Display"/>
              </a:rPr>
              <a:t>Compose deploy instead of k3s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Fits a small, low-memory cloud instance.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3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960120"/>
            <a:ext cx="54864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0" b="1" i="0">
                <a:solidFill>
                  <a:srgbClr val="2E241B"/>
                </a:solidFill>
                <a:latin typeface="Sitka Banner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3101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FF8C2A"/>
                </a:solidFill>
                <a:latin typeface="Bahnschrift SemiBold Condensed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21024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400" b="1" i="0">
                <a:solidFill>
                  <a:srgbClr val="FBF6EC"/>
                </a:solidFill>
                <a:latin typeface="Sitka Display"/>
              </a:rPr>
              <a:t>The business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590288"/>
            <a:ext cx="1325880" cy="45720"/>
          </a:xfrm>
          <a:prstGeom prst="rect">
            <a:avLst/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828032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9A9084"/>
                </a:solidFill>
                <a:latin typeface="Corbel"/>
              </a:rPr>
              <a:t>Who pays for this, and what they measure it by.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58784" y="3136392"/>
            <a:ext cx="105156" cy="310896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96528" y="3063240"/>
            <a:ext cx="105156" cy="457200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34272" y="2971800"/>
            <a:ext cx="105156" cy="640080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72016" y="2871216"/>
            <a:ext cx="105156" cy="841248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2788920"/>
            <a:ext cx="105156" cy="1005840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47504" y="2724912"/>
            <a:ext cx="105156" cy="1133856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85248" y="2697480"/>
            <a:ext cx="105156" cy="1188720"/>
          </a:xfrm>
          <a:prstGeom prst="roundRect">
            <a:avLst>
              <a:gd name="adj" fmla="val 50000"/>
            </a:avLst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22992" y="2752344"/>
            <a:ext cx="105156" cy="1078992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460736" y="2843784"/>
            <a:ext cx="105156" cy="896112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0" y="2935224"/>
            <a:ext cx="105156" cy="713232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36224" y="3026664"/>
            <a:ext cx="105156" cy="530352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173967" y="3099816"/>
            <a:ext cx="105156" cy="384048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11712" y="3154680"/>
            <a:ext cx="105156" cy="274320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49456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5A4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3A3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9A908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A3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A3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FF8C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A3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3A3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9A9084"/>
                </a:solidFill>
                <a:latin typeface="Bahnschrift SemiBold Condense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BUSINESS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Where this
creates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488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86584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45C"/>
                </a:solidFill>
                <a:latin typeface="Corbel"/>
              </a:rPr>
              <a:t>The same pipeline serves a bank, a call centre and a door. What changes between them is only the risk threshold.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12</a:t>
            </a:r>
          </a:p>
        </p:txBody>
      </p:sp>
      <p:pic>
        <p:nvPicPr>
          <p:cNvPr id="15" name="Picture 14" descr="v3_business.png"/>
          <p:cNvPicPr>
            <a:picLocks noChangeAspect="1"/>
          </p:cNvPicPr>
          <p:nvPr/>
        </p:nvPicPr>
        <p:blipFill>
          <a:blip r:embed="rId2"/>
          <a:srcRect t="11000" b="11000"/>
          <a:stretch>
            <a:fillRect/>
          </a:stretch>
        </p:blipFill>
        <p:spPr>
          <a:xfrm>
            <a:off x="4846320" y="896112"/>
            <a:ext cx="6659849" cy="2922008"/>
          </a:xfrm>
          <a:prstGeom prst="roundRect">
            <a:avLst>
              <a:gd name="adj" fmla="val 4850"/>
            </a:avLst>
          </a:prstGeom>
        </p:spPr>
      </p:pic>
      <p:sp>
        <p:nvSpPr>
          <p:cNvPr id="16" name="Rounded Rectangle 15"/>
          <p:cNvSpPr/>
          <p:nvPr/>
        </p:nvSpPr>
        <p:spPr>
          <a:xfrm>
            <a:off x="4846320" y="3950208"/>
            <a:ext cx="2093976" cy="2084831"/>
          </a:xfrm>
          <a:prstGeom prst="roundRect">
            <a:avLst>
              <a:gd name="adj" fmla="val 6798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46320" y="3950208"/>
            <a:ext cx="2093976" cy="6400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169663"/>
            <a:ext cx="1645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950" b="1" i="0" spc="160">
                <a:solidFill>
                  <a:srgbClr val="B84E08"/>
                </a:solidFill>
                <a:latin typeface="Bahnschrift SemiBold Condensed"/>
              </a:rPr>
              <a:t>WHO BUYS IT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B84E08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45C"/>
                </a:solidFill>
                <a:latin typeface="Corbel"/>
              </a:rPr>
              <a:t>Banks and fintech apps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B84E08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45C"/>
                </a:solidFill>
                <a:latin typeface="Corbel"/>
              </a:rPr>
              <a:t>Call-centre identity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B84E08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45C"/>
                </a:solidFill>
                <a:latin typeface="Corbel"/>
              </a:rPr>
              <a:t>Building and device access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B84E08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45C"/>
                </a:solidFill>
                <a:latin typeface="Corbel"/>
              </a:rPr>
              <a:t>Passwordless consumer apps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3950208"/>
            <a:ext cx="2093976" cy="2084831"/>
          </a:xfrm>
          <a:prstGeom prst="roundRect">
            <a:avLst>
              <a:gd name="adj" fmla="val 6798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0" y="3950208"/>
            <a:ext cx="2093976" cy="6400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0064" y="4169663"/>
            <a:ext cx="1645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950" b="1" i="0" spc="160">
                <a:solidFill>
                  <a:srgbClr val="B84E08"/>
                </a:solidFill>
                <a:latin typeface="Bahnschrift SemiBold Condensed"/>
              </a:rPr>
              <a:t>WHAT THEY GET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B84E08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45C"/>
                </a:solidFill>
                <a:latin typeface="Corbel"/>
              </a:rPr>
              <a:t>Fewer steps per login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B84E08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45C"/>
                </a:solidFill>
                <a:latin typeface="Corbel"/>
              </a:rPr>
              <a:t>Replay-attack resistance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B84E08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45C"/>
                </a:solidFill>
                <a:latin typeface="Corbel"/>
              </a:rPr>
              <a:t>Works in noisy channels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B84E08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45C"/>
                </a:solidFill>
                <a:latin typeface="Corbel"/>
              </a:rPr>
              <a:t>On-premise or cloud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3950208"/>
            <a:ext cx="2093976" cy="2084831"/>
          </a:xfrm>
          <a:prstGeom prst="roundRect">
            <a:avLst>
              <a:gd name="adj" fmla="val 6798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18320" y="3950208"/>
            <a:ext cx="2093976" cy="6400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56064" y="4169663"/>
            <a:ext cx="1645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950" b="1" i="0" spc="160">
                <a:solidFill>
                  <a:srgbClr val="B84E08"/>
                </a:solidFill>
                <a:latin typeface="Bahnschrift SemiBold Condensed"/>
              </a:rPr>
              <a:t>HOW WE SHIP IT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B84E08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45C"/>
                </a:solidFill>
                <a:latin typeface="Corbel"/>
              </a:rPr>
              <a:t>Enroll, verify, identify API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B84E08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45C"/>
                </a:solidFill>
                <a:latin typeface="Corbel"/>
              </a:rPr>
              <a:t>Threshold and risk dashboard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B84E08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45C"/>
                </a:solidFill>
                <a:latin typeface="Corbel"/>
              </a:rPr>
              <a:t>Pilot on one workflow</a:t>
            </a:r>
          </a:p>
          <a:p>
            <a:pPr marL="155448" indent="-155448">
              <a:lnSpc>
                <a:spcPct val="110000"/>
              </a:lnSpc>
              <a:spcAft>
                <a:spcPts val="800"/>
              </a:spcAft>
            </a:pPr>
            <a:r>
              <a:rPr sz="1050" b="1" i="0">
                <a:solidFill>
                  <a:srgbClr val="B84E08"/>
                </a:solidFill>
                <a:latin typeface="Corbel"/>
              </a:rPr>
              <a:t>·	</a:t>
            </a:r>
            <a:r>
              <a:rPr sz="1050" b="0" i="0">
                <a:solidFill>
                  <a:srgbClr val="6B645C"/>
                </a:solidFill>
                <a:latin typeface="Corbel"/>
              </a:rPr>
              <a:t>Tuned per customer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BUSINESS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The numbers
a customer
asks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564891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802635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45C"/>
                </a:solidFill>
                <a:latin typeface="Corbel"/>
              </a:rPr>
              <a:t>Every claim below comes from a run in this repository, including the ones that did not go our 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13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846320" y="896112"/>
          <a:ext cx="6656832" cy="2487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427939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BF6EC"/>
                          </a:solidFill>
                          <a:latin typeface="Bahnschrift SemiBold Condensed"/>
                        </a:rPr>
                        <a:t>KPI</a:t>
                      </a:r>
                    </a:p>
                  </a:txBody>
                  <a:tcPr anchor="ctr" marL="128016" marR="91440" marT="18288" marB="18288">
                    <a:solidFill>
                      <a:srgbClr val="B84E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BF6EC"/>
                          </a:solidFill>
                          <a:latin typeface="Bahnschrift SemiBold Condensed"/>
                        </a:rPr>
                        <a:t>Why the business cares</a:t>
                      </a:r>
                    </a:p>
                  </a:txBody>
                  <a:tcPr anchor="ctr" marL="128016" marR="91440" marT="18288" marB="18288">
                    <a:solidFill>
                      <a:srgbClr val="B84E0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EER / FAR / FRR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Security versus user friction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Spoof catch rate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Direct fraud prevention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Verification latency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Perceived speed of the login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Cost per verification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Unit economics at scale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Enrollment time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Onboarding drop-off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846320" y="3584448"/>
            <a:ext cx="665984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EVIDENCE WE ALREADY HAVE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3913632"/>
            <a:ext cx="1554480" cy="1005840"/>
          </a:xfrm>
          <a:prstGeom prst="roundRect">
            <a:avLst>
              <a:gd name="adj" fmla="val 14090"/>
            </a:avLst>
          </a:prstGeom>
          <a:solidFill>
            <a:srgbClr val="FDEEDF"/>
          </a:solidFill>
          <a:ln w="11430">
            <a:solidFill>
              <a:srgbClr val="FA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096512"/>
            <a:ext cx="1097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0C7C46"/>
                </a:solidFill>
                <a:latin typeface="Sitka Display"/>
              </a:rPr>
              <a:t>0.83%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4A2E0A"/>
                </a:solidFill>
                <a:latin typeface="Corbel"/>
              </a:rPr>
              <a:t>SASV-EER, clean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4" y="3913632"/>
            <a:ext cx="1554480" cy="1005840"/>
          </a:xfrm>
          <a:prstGeom prst="roundRect">
            <a:avLst>
              <a:gd name="adj" fmla="val 14090"/>
            </a:avLst>
          </a:prstGeom>
          <a:solidFill>
            <a:srgbClr val="FDEEDF"/>
          </a:solidFill>
          <a:ln w="11430">
            <a:solidFill>
              <a:srgbClr val="FA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4096512"/>
            <a:ext cx="1097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0C7C46"/>
                </a:solidFill>
                <a:latin typeface="Sitka Display"/>
              </a:rPr>
              <a:t>8.79%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4A2E0A"/>
                </a:solidFill>
                <a:latin typeface="Corbel"/>
              </a:rPr>
              <a:t>all-noisy SV-EER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47888" y="3913632"/>
            <a:ext cx="1554480" cy="1005840"/>
          </a:xfrm>
          <a:prstGeom prst="roundRect">
            <a:avLst>
              <a:gd name="adj" fmla="val 14090"/>
            </a:avLst>
          </a:prstGeom>
          <a:solidFill>
            <a:srgbClr val="FDEEDF"/>
          </a:solidFill>
          <a:ln w="11430">
            <a:solidFill>
              <a:srgbClr val="FA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4096512"/>
            <a:ext cx="1097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0C7C46"/>
                </a:solidFill>
                <a:latin typeface="Sitka Display"/>
              </a:rPr>
              <a:t>0.54%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4A2E0A"/>
                </a:solidFill>
                <a:latin typeface="Corbel"/>
              </a:rPr>
              <a:t>VoxCeleb EER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48672" y="3913632"/>
            <a:ext cx="1554480" cy="1005840"/>
          </a:xfrm>
          <a:prstGeom prst="roundRect">
            <a:avLst>
              <a:gd name="adj" fmla="val 14090"/>
            </a:avLst>
          </a:prstGeom>
          <a:solidFill>
            <a:srgbClr val="FDEEDF"/>
          </a:solidFill>
          <a:ln w="11430">
            <a:solidFill>
              <a:srgbClr val="FA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86415" y="4096512"/>
            <a:ext cx="109728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1C1C1E"/>
                </a:solidFill>
                <a:latin typeface="Sitka Display"/>
              </a:rPr>
              <a:t>Live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4A2E0A"/>
                </a:solidFill>
                <a:latin typeface="Corbel"/>
              </a:rPr>
              <a:t>cloud deployment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5065776"/>
            <a:ext cx="6659849" cy="969264"/>
          </a:xfrm>
          <a:prstGeom prst="roundRect">
            <a:avLst>
              <a:gd name="adj" fmla="val 14622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47488" y="5285232"/>
            <a:ext cx="50292" cy="53035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66944" y="5212080"/>
            <a:ext cx="6001481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E"/>
                </a:solidFill>
                <a:latin typeface="Corbel"/>
              </a:rPr>
              <a:t>Responsible use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Biometric consent and a retention policy are mandatory, and high-risk transactions should still use a second factor.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720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960120"/>
            <a:ext cx="54864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0" b="1" i="0">
                <a:solidFill>
                  <a:srgbClr val="D06303"/>
                </a:solidFill>
                <a:latin typeface="Sitka Banner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3101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4A2E0A"/>
                </a:solidFill>
                <a:latin typeface="Bahnschrift SemiBold Condensed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621024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400" b="1" i="0">
                <a:solidFill>
                  <a:srgbClr val="1C1C1E"/>
                </a:solidFill>
                <a:latin typeface="Sitka Display"/>
              </a:rPr>
              <a:t>The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590288"/>
            <a:ext cx="1325880" cy="45720"/>
          </a:xfrm>
          <a:prstGeom prst="rect">
            <a:avLst/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828032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400" b="0" i="0">
                <a:solidFill>
                  <a:srgbClr val="1C1C1E"/>
                </a:solidFill>
                <a:latin typeface="Corbel"/>
              </a:rPr>
              <a:t>Three tracks, three protocols, and one result we did not want.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58784" y="3136392"/>
            <a:ext cx="105156" cy="310896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96528" y="3063240"/>
            <a:ext cx="105156" cy="457200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34272" y="2971800"/>
            <a:ext cx="105156" cy="640080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72016" y="2871216"/>
            <a:ext cx="105156" cy="841248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2788920"/>
            <a:ext cx="105156" cy="1005840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47504" y="2724912"/>
            <a:ext cx="105156" cy="1133856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85248" y="2697480"/>
            <a:ext cx="105156" cy="1188720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22992" y="2752344"/>
            <a:ext cx="105156" cy="1078992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460736" y="2843784"/>
            <a:ext cx="105156" cy="896112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0" y="2935224"/>
            <a:ext cx="105156" cy="713232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36224" y="3026664"/>
            <a:ext cx="105156" cy="530352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173967" y="3099816"/>
            <a:ext cx="105156" cy="384048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11712" y="3154680"/>
            <a:ext cx="105156" cy="274320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649456" y="3191256"/>
            <a:ext cx="105156" cy="201168"/>
          </a:xfrm>
          <a:prstGeom prst="roundRect">
            <a:avLst>
              <a:gd name="adj" fmla="val 50000"/>
            </a:avLst>
          </a:prstGeom>
          <a:solidFill>
            <a:srgbClr val="FFC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D06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4A2E0A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06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06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06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D063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4A2E0A"/>
                </a:solidFill>
                <a:latin typeface="Bahnschrift SemiBold Condense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RESEARCH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Who built
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488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86584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45C"/>
                </a:solidFill>
                <a:latin typeface="Corbel"/>
              </a:rPr>
              <a:t>Identity, robustness and security were developed and measured separately, then integrated into one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15</a:t>
            </a:r>
          </a:p>
        </p:txBody>
      </p:sp>
      <p:pic>
        <p:nvPicPr>
          <p:cNvPr id="15" name="Picture 14" descr="v3_team.png"/>
          <p:cNvPicPr>
            <a:picLocks noChangeAspect="1"/>
          </p:cNvPicPr>
          <p:nvPr/>
        </p:nvPicPr>
        <p:blipFill>
          <a:blip r:embed="rId2"/>
          <a:srcRect t="5000" b="5000"/>
          <a:stretch>
            <a:fillRect/>
          </a:stretch>
        </p:blipFill>
        <p:spPr>
          <a:xfrm>
            <a:off x="4846320" y="896112"/>
            <a:ext cx="6659849" cy="3371548"/>
          </a:xfrm>
          <a:prstGeom prst="roundRect">
            <a:avLst>
              <a:gd name="adj" fmla="val 4203"/>
            </a:avLst>
          </a:prstGeom>
        </p:spPr>
      </p:pic>
      <p:sp>
        <p:nvSpPr>
          <p:cNvPr id="16" name="Rounded Rectangle 15">
            <a:hlinkClick action="ppaction://hlinksldjump" r:id="rId4"/>
          </p:cNvPr>
          <p:cNvSpPr/>
          <p:nvPr/>
        </p:nvSpPr>
        <p:spPr>
          <a:xfrm>
            <a:off x="4846320" y="3913632"/>
            <a:ext cx="6659849" cy="694944"/>
          </a:xfrm>
          <a:prstGeom prst="roundRect">
            <a:avLst>
              <a:gd name="adj" fmla="val 20394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65776" y="4078224"/>
            <a:ext cx="50292" cy="365760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4041648"/>
            <a:ext cx="592832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 i="0">
                <a:solidFill>
                  <a:srgbClr val="1C1C1E"/>
                </a:solidFill>
                <a:latin typeface="Sitka Display"/>
              </a:rPr>
              <a:t>Muditha Herath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00" b="0" i="0">
                <a:solidFill>
                  <a:srgbClr val="6B645C"/>
                </a:solidFill>
                <a:latin typeface="Corbel"/>
              </a:rPr>
              <a:t>Speaker models, Silero VAD, pgvector and the full app and ML integration</a:t>
            </a:r>
          </a:p>
        </p:txBody>
      </p:sp>
      <p:sp>
        <p:nvSpPr>
          <p:cNvPr id="19" name="Rounded Rectangle 18">
            <a:hlinkClick action="ppaction://hlinksldjump" r:id="rId5"/>
          </p:cNvPr>
          <p:cNvSpPr/>
          <p:nvPr/>
        </p:nvSpPr>
        <p:spPr>
          <a:xfrm>
            <a:off x="4846320" y="4700016"/>
            <a:ext cx="6659849" cy="694944"/>
          </a:xfrm>
          <a:prstGeom prst="roundRect">
            <a:avLst>
              <a:gd name="adj" fmla="val 20394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65776" y="4864608"/>
            <a:ext cx="50292" cy="365760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4828032"/>
            <a:ext cx="592832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 i="0">
                <a:solidFill>
                  <a:srgbClr val="1C1C1E"/>
                </a:solidFill>
                <a:latin typeface="Sitka Display"/>
              </a:rPr>
              <a:t>Yasith Hewarathna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00" b="0" i="0">
                <a:solidFill>
                  <a:srgbClr val="6B645C"/>
                </a:solidFill>
                <a:latin typeface="Corbel"/>
              </a:rPr>
              <a:t>Noise resilience, enhancer comparison, Wave-U-Net and learned fusion</a:t>
            </a:r>
          </a:p>
        </p:txBody>
      </p:sp>
      <p:sp>
        <p:nvSpPr>
          <p:cNvPr id="22" name="Rounded Rectangle 21">
            <a:hlinkClick action="ppaction://hlinksldjump" r:id="rId6"/>
          </p:cNvPr>
          <p:cNvSpPr/>
          <p:nvPr/>
        </p:nvSpPr>
        <p:spPr>
          <a:xfrm>
            <a:off x="4846320" y="5486400"/>
            <a:ext cx="6659849" cy="694944"/>
          </a:xfrm>
          <a:prstGeom prst="roundRect">
            <a:avLst>
              <a:gd name="adj" fmla="val 20394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65776" y="5650992"/>
            <a:ext cx="50292" cy="365760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5614416"/>
            <a:ext cx="592832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250" b="1" i="0">
                <a:solidFill>
                  <a:srgbClr val="1C1C1E"/>
                </a:solidFill>
                <a:latin typeface="Sitka Display"/>
              </a:rPr>
              <a:t>Herath H.M.M.P.B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000" b="0" i="0">
                <a:solidFill>
                  <a:srgbClr val="6B645C"/>
                </a:solidFill>
                <a:latin typeface="Corbel"/>
              </a:rPr>
              <a:t>Replay and spoof detection, SASV protocol, noise-gated SASV and CI/CD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58384"/>
            <a:ext cx="3611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50" b="0" i="1">
                <a:solidFill>
                  <a:srgbClr val="A9A194"/>
                </a:solidFill>
                <a:latin typeface="Corbel"/>
              </a:rPr>
              <a:t>The cards on the right are clickable.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MUDITHA HERATH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Speaker core
and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488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86584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45C"/>
                </a:solidFill>
                <a:latin typeface="Corbel"/>
              </a:rPr>
              <a:t>The part of the project that actually runs in production: capture the voice, gate it, turn it into a vector, and search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16</a:t>
            </a:r>
          </a:p>
        </p:txBody>
      </p:sp>
      <p:pic>
        <p:nvPicPr>
          <p:cNvPr id="15" name="Picture 14" descr="v3_icon_mic_fbf6ec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1520" y="4809744"/>
            <a:ext cx="1143000" cy="1143000"/>
          </a:xfrm>
          <a:prstGeom prst="rect">
            <a:avLst/>
          </a:prstGeom>
        </p:spPr>
      </p:pic>
      <p:pic>
        <p:nvPicPr>
          <p:cNvPr id="16" name="Picture 15" descr="v3_icon_database_fbf6ec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011680" y="4809744"/>
            <a:ext cx="1143000" cy="1143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46320" y="914400"/>
            <a:ext cx="6659849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37744" indent="-237744">
              <a:lnSpc>
                <a:spcPct val="118000"/>
              </a:lnSpc>
              <a:spcAft>
                <a:spcPts val="2000"/>
              </a:spcAft>
            </a:pPr>
            <a:r>
              <a:rPr sz="1300" b="1" i="0">
                <a:solidFill>
                  <a:srgbClr val="B84E08"/>
                </a:solidFill>
                <a:latin typeface="Corbel"/>
              </a:rPr>
              <a:t>—	</a:t>
            </a:r>
            <a:r>
              <a:rPr sz="1300" b="0" i="0">
                <a:solidFill>
                  <a:srgbClr val="1C1C1E"/>
                </a:solidFill>
                <a:latin typeface="Corbel"/>
              </a:rPr>
              <a:t>Integrated ECAPA-TDNN and NVIDIA TitaNet-Large into the ML server, with offline checkpoint loading</a:t>
            </a:r>
          </a:p>
          <a:p>
            <a:pPr marL="237744" indent="-237744">
              <a:lnSpc>
                <a:spcPct val="118000"/>
              </a:lnSpc>
              <a:spcAft>
                <a:spcPts val="2000"/>
              </a:spcAft>
            </a:pPr>
            <a:r>
              <a:rPr sz="1300" b="1" i="0">
                <a:solidFill>
                  <a:srgbClr val="B84E08"/>
                </a:solidFill>
                <a:latin typeface="Corbel"/>
              </a:rPr>
              <a:t>—	</a:t>
            </a:r>
            <a:r>
              <a:rPr sz="1300" b="0" i="0">
                <a:solidFill>
                  <a:srgbClr val="1C1C1E"/>
                </a:solidFill>
                <a:latin typeface="Corbel"/>
              </a:rPr>
              <a:t>Added Silero VAD to the live inference path, including zero-speech fallback handling</a:t>
            </a:r>
          </a:p>
          <a:p>
            <a:pPr marL="237744" indent="-237744">
              <a:lnSpc>
                <a:spcPct val="118000"/>
              </a:lnSpc>
              <a:spcAft>
                <a:spcPts val="2000"/>
              </a:spcAft>
            </a:pPr>
            <a:r>
              <a:rPr sz="1300" b="1" i="0">
                <a:solidFill>
                  <a:srgbClr val="B84E08"/>
                </a:solidFill>
                <a:latin typeface="Corbel"/>
              </a:rPr>
              <a:t>—	</a:t>
            </a:r>
            <a:r>
              <a:rPr sz="1300" b="0" i="0">
                <a:solidFill>
                  <a:srgbClr val="1C1C1E"/>
                </a:solidFill>
                <a:latin typeface="Corbel"/>
              </a:rPr>
              <a:t>Migrated storage to PostgreSQL + pgvector with HNSW cosine indexes for 1:1 and 1:N search</a:t>
            </a:r>
          </a:p>
          <a:p>
            <a:pPr marL="237744" indent="-237744">
              <a:lnSpc>
                <a:spcPct val="118000"/>
              </a:lnSpc>
              <a:spcAft>
                <a:spcPts val="2000"/>
              </a:spcAft>
            </a:pPr>
            <a:r>
              <a:rPr sz="1300" b="1" i="0">
                <a:solidFill>
                  <a:srgbClr val="B84E08"/>
                </a:solidFill>
                <a:latin typeface="Corbel"/>
              </a:rPr>
              <a:t>—	</a:t>
            </a:r>
            <a:r>
              <a:rPr sz="1300" b="0" i="0">
                <a:solidFill>
                  <a:srgbClr val="1C1C1E"/>
                </a:solidFill>
                <a:latin typeface="Corbel"/>
              </a:rPr>
              <a:t>Built the Express API, the React recorder and the verification result view</a:t>
            </a:r>
          </a:p>
          <a:p>
            <a:pPr marL="237744" indent="-237744">
              <a:lnSpc>
                <a:spcPct val="118000"/>
              </a:lnSpc>
              <a:spcAft>
                <a:spcPts val="2000"/>
              </a:spcAft>
            </a:pPr>
            <a:r>
              <a:rPr sz="1300" b="1" i="0">
                <a:solidFill>
                  <a:srgbClr val="B84E08"/>
                </a:solidFill>
                <a:latin typeface="Corbel"/>
              </a:rPr>
              <a:t>—	</a:t>
            </a:r>
            <a:r>
              <a:rPr sz="1300" b="0" i="0">
                <a:solidFill>
                  <a:srgbClr val="1C1C1E"/>
                </a:solidFill>
                <a:latin typeface="Corbel"/>
              </a:rPr>
              <a:t>Authored the VAD, audio and schema test suites with pytest markers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4206240"/>
            <a:ext cx="6659849" cy="1828800"/>
          </a:xfrm>
          <a:prstGeom prst="roundRect">
            <a:avLst>
              <a:gd name="adj" fmla="val 7750"/>
            </a:avLst>
          </a:prstGeom>
          <a:solidFill>
            <a:srgbClr val="FDEEDF"/>
          </a:solidFill>
          <a:ln w="11430">
            <a:solidFill>
              <a:srgbClr val="FA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47488" y="4425696"/>
            <a:ext cx="50292" cy="138988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4352544"/>
            <a:ext cx="6001481" cy="1536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E"/>
                </a:solidFill>
                <a:latin typeface="Corbel"/>
              </a:rPr>
              <a:t>Why a dual-encoder design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4A2E0A"/>
                </a:solidFill>
                <a:latin typeface="Corbel"/>
              </a:rPr>
              <a:t>ECAPA is small, open and fast on CPU, which suits the deployed service. TitaNet is kept as a second template slot so a stronger encoder can be swapped in later without a schema change.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MUDITHA HERATH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Does removing silence help?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45C"/>
                </a:solidFill>
                <a:latin typeface="Corbel"/>
              </a:rPr>
              <a:t>VoxCeleb1 test speakers, 1,120 same-speaker and 1,120 different-speaker pairs over 320 files.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03120"/>
            <a:ext cx="3749039" cy="1355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0" b="1" i="0">
                <a:solidFill>
                  <a:srgbClr val="0C7C46"/>
                </a:solidFill>
                <a:latin typeface="Sitka Display"/>
              </a:rPr>
              <a:t>0.54%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69295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spc="160">
                <a:solidFill>
                  <a:srgbClr val="1C1C1E"/>
                </a:solidFill>
                <a:latin typeface="Bahnschrift SemiBold Condensed"/>
              </a:rPr>
              <a:t>EER WITH SILERO VAD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43615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down from 0.625% on raw audio, a gain of 0.09 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15968"/>
            <a:ext cx="1847088" cy="1005840"/>
          </a:xfrm>
          <a:prstGeom prst="roundRect">
            <a:avLst>
              <a:gd name="adj" fmla="val 14090"/>
            </a:avLst>
          </a:prstGeom>
          <a:solidFill>
            <a:srgbClr val="FDEEDF"/>
          </a:solidFill>
          <a:ln w="11430">
            <a:solidFill>
              <a:srgbClr val="FA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4498848"/>
            <a:ext cx="13898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EE7203"/>
                </a:solidFill>
                <a:latin typeface="Sitka Display"/>
              </a:rPr>
              <a:t>92%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4A2E0A"/>
                </a:solidFill>
                <a:latin typeface="Corbel"/>
              </a:rPr>
              <a:t>speech kept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4315968"/>
            <a:ext cx="1847088" cy="1005840"/>
          </a:xfrm>
          <a:prstGeom prst="roundRect">
            <a:avLst>
              <a:gd name="adj" fmla="val 14090"/>
            </a:avLst>
          </a:prstGeom>
          <a:solidFill>
            <a:srgbClr val="FDEEDF"/>
          </a:solidFill>
          <a:ln w="11430">
            <a:solidFill>
              <a:srgbClr val="FA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9504" y="4498848"/>
            <a:ext cx="1389888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1C1C1E"/>
                </a:solidFill>
                <a:latin typeface="Sitka Display"/>
              </a:rPr>
              <a:t>320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4A2E0A"/>
                </a:solidFill>
                <a:latin typeface="Corbel"/>
              </a:rPr>
              <a:t>trial files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754880" y="2029968"/>
          <a:ext cx="31089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8183879" y="2029968"/>
            <a:ext cx="3319272" cy="3291840"/>
          </a:xfrm>
          <a:prstGeom prst="roundRect">
            <a:avLst>
              <a:gd name="adj" fmla="val 4305"/>
            </a:avLst>
          </a:prstGeom>
          <a:solidFill>
            <a:srgbClr val="FDEEDF"/>
          </a:solidFill>
          <a:ln w="11430">
            <a:solidFill>
              <a:srgbClr val="FA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85048" y="2249424"/>
            <a:ext cx="50292" cy="285292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4504" y="2176272"/>
            <a:ext cx="2660904" cy="2999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E"/>
                </a:solidFill>
                <a:latin typeface="Corbel"/>
              </a:rPr>
              <a:t>Reading the result honestly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4A2E0A"/>
                </a:solidFill>
                <a:latin typeface="Corbel"/>
              </a:rPr>
              <a:t>The EER gain is small, because VoxCeleb clips are already almost all speech.
The bigger practical win is robustness: silent or empty recordings are now caught instead of producing a meaningless embedding.
The TitaNet comparison runs on the same trial list and is blocked only on the NeMo runtime install.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YASITH HEWARATHNA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Noise-robust
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488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86584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45C"/>
                </a:solidFill>
                <a:latin typeface="Corbel"/>
              </a:rPr>
              <a:t>Babble is the hardest condition in the whole study, and generic enhancement often makes verification worse rather than better.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18</a:t>
            </a:r>
          </a:p>
        </p:txBody>
      </p:sp>
      <p:pic>
        <p:nvPicPr>
          <p:cNvPr id="15" name="Picture 14" descr="v3_research.png"/>
          <p:cNvPicPr>
            <a:picLocks noChangeAspect="1"/>
          </p:cNvPicPr>
          <p:nvPr/>
        </p:nvPicPr>
        <p:blipFill>
          <a:blip r:embed="rId2"/>
          <a:srcRect t="10000" b="12000"/>
          <a:stretch>
            <a:fillRect/>
          </a:stretch>
        </p:blipFill>
        <p:spPr>
          <a:xfrm>
            <a:off x="4846320" y="896112"/>
            <a:ext cx="6659849" cy="2922008"/>
          </a:xfrm>
          <a:prstGeom prst="roundRect">
            <a:avLst>
              <a:gd name="adj" fmla="val 4850"/>
            </a:avLst>
          </a:prstGeom>
        </p:spPr>
      </p:pic>
      <p:sp>
        <p:nvSpPr>
          <p:cNvPr id="16" name="Rounded Rectangle 15"/>
          <p:cNvSpPr/>
          <p:nvPr/>
        </p:nvSpPr>
        <p:spPr>
          <a:xfrm>
            <a:off x="4846320" y="3931920"/>
            <a:ext cx="3236976" cy="2103120"/>
          </a:xfrm>
          <a:prstGeom prst="roundRect">
            <a:avLst>
              <a:gd name="adj" fmla="val 6739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46320" y="3931920"/>
            <a:ext cx="3236976" cy="6400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4059936"/>
            <a:ext cx="2688336" cy="1847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1" i="0">
                <a:solidFill>
                  <a:srgbClr val="1C1C1E"/>
                </a:solidFill>
                <a:latin typeface="Sitka Display"/>
              </a:rPr>
              <a:t>The idea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Do not choose between raw and enhanced audio. Embed both with ECAPA and let a network learn how to blend them per utterance.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3931920"/>
            <a:ext cx="3236976" cy="2103120"/>
          </a:xfrm>
          <a:prstGeom prst="roundRect">
            <a:avLst>
              <a:gd name="adj" fmla="val 6739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66175" y="3931920"/>
            <a:ext cx="3236976" cy="6400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0496" y="4059936"/>
            <a:ext cx="2688336" cy="1847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400" b="1" i="0">
                <a:solidFill>
                  <a:srgbClr val="1C1C1E"/>
                </a:solidFill>
                <a:latin typeface="Sitka Display"/>
              </a:rPr>
              <a:t>The final system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A Wave-U-Net enhancer fine-tuned with five speaker-aware losses, followed by self-attention fusion.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YASITH HEWARATHNA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From a fast baseline to a tuned enhancer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75104"/>
            <a:ext cx="1965960" cy="2231136"/>
          </a:xfrm>
          <a:prstGeom prst="roundRect">
            <a:avLst>
              <a:gd name="adj" fmla="val 7209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1975104"/>
            <a:ext cx="1965960" cy="6400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2121408"/>
            <a:ext cx="1508760" cy="1975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900" b="1" i="0" spc="160">
                <a:solidFill>
                  <a:srgbClr val="B84E08"/>
                </a:solidFill>
                <a:latin typeface="Bahnschrift SemiBold Condensed"/>
              </a:rPr>
              <a:t>PHASE 01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1C1C1E"/>
                </a:solidFill>
                <a:latin typeface="Sitka Display"/>
              </a:rPr>
              <a:t>Baselines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6B645C"/>
                </a:solidFill>
                <a:latin typeface="Corbel"/>
              </a:rPr>
              <a:t>ECAPA beats x-vector everywhere; Sinhala is far harder than English on the same encoder.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697479" y="2990088"/>
            <a:ext cx="164592" cy="201168"/>
          </a:xfrm>
          <a:prstGeom prst="rightArrow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98648" y="1975104"/>
            <a:ext cx="1965960" cy="2231136"/>
          </a:xfrm>
          <a:prstGeom prst="roundRect">
            <a:avLst>
              <a:gd name="adj" fmla="val 7209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98648" y="1975104"/>
            <a:ext cx="1965960" cy="6400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36391" y="2121408"/>
            <a:ext cx="1508760" cy="1975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900" b="1" i="0" spc="160">
                <a:solidFill>
                  <a:srgbClr val="B84E08"/>
                </a:solidFill>
                <a:latin typeface="Bahnschrift SemiBold Condensed"/>
              </a:rPr>
              <a:t>PHASE 02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1C1C1E"/>
                </a:solidFill>
                <a:latin typeface="Sitka Display"/>
              </a:rPr>
              <a:t>Noise study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6B645C"/>
                </a:solidFill>
                <a:latin typeface="Corbel"/>
              </a:rPr>
              <a:t>Fourteen noise and reverb conditions. Babble at low SNR dominates the failures.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10328" y="2990088"/>
            <a:ext cx="164592" cy="201168"/>
          </a:xfrm>
          <a:prstGeom prst="rightArrow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11496" y="1975104"/>
            <a:ext cx="1965960" cy="2231136"/>
          </a:xfrm>
          <a:prstGeom prst="roundRect">
            <a:avLst>
              <a:gd name="adj" fmla="val 7209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11496" y="1975104"/>
            <a:ext cx="1965960" cy="6400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2121408"/>
            <a:ext cx="1508760" cy="1975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900" b="1" i="0" spc="160">
                <a:solidFill>
                  <a:srgbClr val="B84E08"/>
                </a:solidFill>
                <a:latin typeface="Bahnschrift SemiBold Condensed"/>
              </a:rPr>
              <a:t>PHASE 03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1C1C1E"/>
                </a:solidFill>
                <a:latin typeface="Sitka Display"/>
              </a:rPr>
              <a:t>Fusion MVP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6B645C"/>
                </a:solidFill>
                <a:latin typeface="Corbel"/>
              </a:rPr>
              <a:t>WebRTC enhancement and 524k paired embeddings. Attention fusion beats both baselines.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23176" y="2990088"/>
            <a:ext cx="164592" cy="201168"/>
          </a:xfrm>
          <a:prstGeom prst="rightArrow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24344" y="1975104"/>
            <a:ext cx="1965960" cy="2231136"/>
          </a:xfrm>
          <a:prstGeom prst="roundRect">
            <a:avLst>
              <a:gd name="adj" fmla="val 7209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24344" y="1975104"/>
            <a:ext cx="1965960" cy="6400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2088" y="2121408"/>
            <a:ext cx="1508760" cy="1975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900" b="1" i="0" spc="160">
                <a:solidFill>
                  <a:srgbClr val="B84E08"/>
                </a:solidFill>
                <a:latin typeface="Bahnschrift SemiBold Condensed"/>
              </a:rPr>
              <a:t>PHASE 04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1C1C1E"/>
                </a:solidFill>
                <a:latin typeface="Sitka Display"/>
              </a:rPr>
              <a:t>Bake-off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6B645C"/>
                </a:solidFill>
                <a:latin typeface="Corbel"/>
              </a:rPr>
              <a:t>Eight enhancers compared end to end; only a task-tuned one helps on average.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336024" y="2990088"/>
            <a:ext cx="164592" cy="201168"/>
          </a:xfrm>
          <a:prstGeom prst="rightArrow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37192" y="1975104"/>
            <a:ext cx="1965960" cy="2231136"/>
          </a:xfrm>
          <a:prstGeom prst="roundRect">
            <a:avLst>
              <a:gd name="adj" fmla="val 7209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37192" y="1975104"/>
            <a:ext cx="1965960" cy="6400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4936" y="2121408"/>
            <a:ext cx="1508760" cy="1975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900" b="1" i="0" spc="160">
                <a:solidFill>
                  <a:srgbClr val="B84E08"/>
                </a:solidFill>
                <a:latin typeface="Bahnschrift SemiBold Condensed"/>
              </a:rPr>
              <a:t>PHASE 05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350" b="1" i="0">
                <a:solidFill>
                  <a:srgbClr val="1C1C1E"/>
                </a:solidFill>
                <a:latin typeface="Sitka Display"/>
              </a:rPr>
              <a:t>Final system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6B645C"/>
                </a:solidFill>
                <a:latin typeface="Corbel"/>
              </a:rPr>
              <a:t>Wave-U-Net fine-tuned with five losses, plus self-attention fusion.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480560"/>
            <a:ext cx="10820369" cy="1371600"/>
          </a:xfrm>
          <a:prstGeom prst="roundRect">
            <a:avLst>
              <a:gd name="adj" fmla="val 10333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626864"/>
            <a:ext cx="10308305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E"/>
                </a:solidFill>
                <a:latin typeface="Corbel"/>
              </a:rPr>
              <a:t>The negative result that shaped the design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4A2E0A"/>
                </a:solidFill>
                <a:latin typeface="Corbel"/>
              </a:rPr>
              <a:t>DeepFilterNet3 enhancement helped only on babble at moderate SNR and hurt on clean, reverberant and stationary-noise audio. That is exactly why the final system learns a blend instead of always enhancing.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YASITH HEWARATHNA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Final results on VoxCeleb1 + MUSAN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45C"/>
                </a:solidFill>
                <a:latin typeface="Corbel"/>
              </a:rPr>
              <a:t>37,611 trials, three noise types across nine SNR levels plus clean. EER in percent, lower is better.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21408"/>
            <a:ext cx="3749039" cy="1355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0" b="1" i="0">
                <a:solidFill>
                  <a:srgbClr val="0C7C46"/>
                </a:solidFill>
                <a:latin typeface="Sitka Display"/>
              </a:rPr>
              <a:t>8.79%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87583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spc="160">
                <a:solidFill>
                  <a:srgbClr val="1C1C1E"/>
                </a:solidFill>
                <a:latin typeface="Bahnschrift SemiBold Condensed"/>
              </a:rPr>
              <a:t>ALL-NOISY EER AFTER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61903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down from 12.58% on raw ECAPA, a gain of 3.78 points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70832"/>
            <a:ext cx="1737360" cy="1005840"/>
          </a:xfrm>
          <a:prstGeom prst="roundRect">
            <a:avLst>
              <a:gd name="adj" fmla="val 14090"/>
            </a:avLst>
          </a:prstGeom>
          <a:solidFill>
            <a:srgbClr val="FDEEDF"/>
          </a:solidFill>
          <a:ln w="11430">
            <a:solidFill>
              <a:srgbClr val="FA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4553712"/>
            <a:ext cx="1280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6B645C"/>
                </a:solidFill>
                <a:latin typeface="Sitka Display"/>
              </a:rPr>
              <a:t>+0.03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4A2E0A"/>
                </a:solidFill>
                <a:latin typeface="Corbel"/>
              </a:rPr>
              <a:t>clean EER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42032" y="4370832"/>
            <a:ext cx="1737360" cy="1005840"/>
          </a:xfrm>
          <a:prstGeom prst="roundRect">
            <a:avLst>
              <a:gd name="adj" fmla="val 14090"/>
            </a:avLst>
          </a:prstGeom>
          <a:solidFill>
            <a:srgbClr val="FDEEDF"/>
          </a:solidFill>
          <a:ln w="11430">
            <a:solidFill>
              <a:srgbClr val="FA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4553712"/>
            <a:ext cx="1280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EE7203"/>
                </a:solidFill>
                <a:latin typeface="Sitka Display"/>
              </a:rPr>
              <a:t>14.62%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4A2E0A"/>
                </a:solidFill>
                <a:latin typeface="Corbel"/>
              </a:rPr>
              <a:t>hardest subset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663440" y="1993392"/>
          <a:ext cx="6839712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663440" y="5532120"/>
            <a:ext cx="68397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1">
                <a:solidFill>
                  <a:srgbClr val="6B645C"/>
                </a:solidFill>
                <a:latin typeface="Corbel"/>
              </a:rPr>
              <a:t>The fused system wins at every SNR and every noise type, with no crossover, and gives up almost nothing on clean audio.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HERATH H.M.M.P.B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Detecting a replayed recording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45C"/>
                </a:solidFill>
                <a:latin typeface="Corbel"/>
              </a:rPr>
              <a:t>ASVspoof 2017 V2 physical replay attacks, 1,040 held-out development files. Same CNN throughout; only the front-end changes.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21408"/>
            <a:ext cx="3749039" cy="1355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0" b="1" i="0">
                <a:solidFill>
                  <a:srgbClr val="0C7C46"/>
                </a:solidFill>
                <a:latin typeface="Sitka Display"/>
              </a:rPr>
              <a:t>4.90%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87583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spc="160">
                <a:solidFill>
                  <a:srgbClr val="1C1C1E"/>
                </a:solidFill>
                <a:latin typeface="Bahnschrift SemiBold Condensed"/>
              </a:rPr>
              <a:t>EER WITH AN INVERTED-MEL FRONT-END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61903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down from 10.00% with a standard Log-Mel front-end on the identical network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70832"/>
            <a:ext cx="1737360" cy="1005840"/>
          </a:xfrm>
          <a:prstGeom prst="roundRect">
            <a:avLst>
              <a:gd name="adj" fmla="val 14090"/>
            </a:avLst>
          </a:prstGeom>
          <a:solidFill>
            <a:srgbClr val="FDEEDF"/>
          </a:solidFill>
          <a:ln w="11430">
            <a:solidFill>
              <a:srgbClr val="FA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4553712"/>
            <a:ext cx="1280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EE7203"/>
                </a:solidFill>
                <a:latin typeface="Sitka Display"/>
              </a:rPr>
              <a:t>0.955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4A2E0A"/>
                </a:solidFill>
                <a:latin typeface="Corbel"/>
              </a:rPr>
              <a:t>replay F1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42032" y="4370832"/>
            <a:ext cx="1737360" cy="1005840"/>
          </a:xfrm>
          <a:prstGeom prst="roundRect">
            <a:avLst>
              <a:gd name="adj" fmla="val 14090"/>
            </a:avLst>
          </a:prstGeom>
          <a:solidFill>
            <a:srgbClr val="FDEEDF"/>
          </a:solidFill>
          <a:ln w="11430">
            <a:solidFill>
              <a:srgbClr val="FA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4553712"/>
            <a:ext cx="12801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1C1C1E"/>
                </a:solidFill>
                <a:latin typeface="Sitka Display"/>
              </a:rPr>
              <a:t>95.1%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4A2E0A"/>
                </a:solidFill>
                <a:latin typeface="Corbel"/>
              </a:rPr>
              <a:t>accuracy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754880" y="1993392"/>
          <a:ext cx="310896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8183879" y="1993392"/>
            <a:ext cx="3319272" cy="3291840"/>
          </a:xfrm>
          <a:prstGeom prst="roundRect">
            <a:avLst>
              <a:gd name="adj" fmla="val 4305"/>
            </a:avLst>
          </a:prstGeom>
          <a:solidFill>
            <a:srgbClr val="FDEEDF"/>
          </a:solidFill>
          <a:ln w="11430">
            <a:solidFill>
              <a:srgbClr val="FA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85048" y="2212848"/>
            <a:ext cx="50292" cy="285292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4504" y="2139696"/>
            <a:ext cx="2660904" cy="2999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E"/>
                </a:solidFill>
                <a:latin typeface="Corbel"/>
              </a:rPr>
              <a:t>Why the front-end decides this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4A2E0A"/>
                </a:solidFill>
                <a:latin typeface="Corbel"/>
              </a:rPr>
              <a:t>A Mel filterbank spends most of its resolution on low frequencies, where the speech energy is.
Inverted Mel spends it on high frequencies instead, which is exactly where a playback loudspeaker and a second microphone leave their fingerprint.
The network, the data and the training schedule were unchanged, so the gain is attributable to the front-end alone.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HERATH H.M.M.P.B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Where replay detection stops working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45C"/>
                </a:solidFill>
                <a:latin typeface="Corbel"/>
              </a:rPr>
              <a:t>Every row is a zero-shot run: trained on one corpus, scored on another with no retraining.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22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" y="1975104"/>
          <a:ext cx="5257800" cy="19933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332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BF6EC"/>
                          </a:solidFill>
                          <a:latin typeface="Bahnschrift SemiBold Condensed"/>
                        </a:rPr>
                        <a:t>Trained on → scored on</a:t>
                      </a:r>
                    </a:p>
                  </a:txBody>
                  <a:tcPr anchor="ctr" marL="128016" marR="91440" marT="18288" marB="18288">
                    <a:solidFill>
                      <a:srgbClr val="B84E0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BF6EC"/>
                          </a:solidFill>
                          <a:latin typeface="Bahnschrift SemiBold Condensed"/>
                        </a:rPr>
                        <a:t>EER</a:t>
                      </a:r>
                    </a:p>
                  </a:txBody>
                  <a:tcPr anchor="ctr" marL="128016" marR="91440" marT="18288" marB="18288">
                    <a:solidFill>
                      <a:srgbClr val="B84E0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ASVspoof 2017 → 2019 PA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D4213D"/>
                          </a:solidFill>
                          <a:latin typeface="Corbel"/>
                        </a:rPr>
                        <a:t>50.47%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2019 PA → ASVspoof 2017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D4213D"/>
                          </a:solidFill>
                          <a:latin typeface="Corbel"/>
                        </a:rPr>
                        <a:t>39.24%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2017 + PA → 2019 LA (TTS/VC)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D4213D"/>
                          </a:solidFill>
                          <a:latin typeface="Corbel"/>
                        </a:rPr>
                        <a:t>41.12%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AASIST off-the-shelf → 2017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D4213D"/>
                          </a:solidFill>
                          <a:latin typeface="Corbel"/>
                        </a:rPr>
                        <a:t>64.32%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85800" y="4151376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MIXED-CORPUS TRAINING, THREE FRONT-ENDS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85800" y="4407408"/>
          <a:ext cx="5257800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BF6EC"/>
                          </a:solidFill>
                          <a:latin typeface="Bahnschrift SemiBold Condensed"/>
                        </a:rPr>
                        <a:t>Front-end</a:t>
                      </a:r>
                    </a:p>
                  </a:txBody>
                  <a:tcPr anchor="ctr" marL="128016" marR="91440" marT="18288" marB="1828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BF6EC"/>
                          </a:solidFill>
                          <a:latin typeface="Bahnschrift SemiBold Condensed"/>
                        </a:rPr>
                        <a:t>2017</a:t>
                      </a:r>
                    </a:p>
                  </a:txBody>
                  <a:tcPr anchor="ctr" marL="128016" marR="91440" marT="18288" marB="18288"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BF6EC"/>
                          </a:solidFill>
                          <a:latin typeface="Bahnschrift SemiBold Condensed"/>
                        </a:rPr>
                        <a:t>PA 2019</a:t>
                      </a:r>
                    </a:p>
                  </a:txBody>
                  <a:tcPr anchor="ctr" marL="128016" marR="91440" marT="18288" marB="18288">
                    <a:solidFill>
                      <a:srgbClr val="1C1C1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Log-Mel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21.17%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5.99%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Inverted Mel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10.12%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9.66%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LFCC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C7C46"/>
                          </a:solidFill>
                          <a:latin typeface="Corbel"/>
                        </a:rPr>
                        <a:t>9.24%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0C7C46"/>
                          </a:solidFill>
                          <a:latin typeface="Corbel"/>
                        </a:rPr>
                        <a:t>8.98%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245352" y="1975104"/>
            <a:ext cx="5257800" cy="1280160"/>
          </a:xfrm>
          <a:prstGeom prst="roundRect">
            <a:avLst>
              <a:gd name="adj" fmla="val 11071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2194560"/>
            <a:ext cx="50292" cy="841247"/>
          </a:xfrm>
          <a:prstGeom prst="roundRect">
            <a:avLst>
              <a:gd name="adj" fmla="val 50000"/>
            </a:avLst>
          </a:prstGeom>
          <a:solidFill>
            <a:srgbClr val="0C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5976" y="2121408"/>
            <a:ext cx="4599432" cy="9875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E"/>
                </a:solidFill>
                <a:latin typeface="Corbel"/>
              </a:rPr>
              <a:t>Fix 1 — train on the target corpus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Training the same network directly on ASVspoof 2019 PA reaches 7.96% EER over 15,434 development files, at an F1 of 0.949.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3310128"/>
            <a:ext cx="5257800" cy="1280160"/>
          </a:xfrm>
          <a:prstGeom prst="roundRect">
            <a:avLst>
              <a:gd name="adj" fmla="val 11071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3529584"/>
            <a:ext cx="50292" cy="841247"/>
          </a:xfrm>
          <a:prstGeom prst="roundRect">
            <a:avLst>
              <a:gd name="adj" fmla="val 50000"/>
            </a:avLst>
          </a:prstGeom>
          <a:solidFill>
            <a:srgbClr val="0C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5976" y="3456432"/>
            <a:ext cx="4599432" cy="9875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E"/>
                </a:solidFill>
                <a:latin typeface="Corbel"/>
              </a:rPr>
              <a:t>Fix 2 — mix the corpora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One corpus-balanced model holds on both instead of collapsing on the unseen one: 9.18% on 2017 and 11.00% on PA.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4645152"/>
            <a:ext cx="5257800" cy="1335024"/>
          </a:xfrm>
          <a:prstGeom prst="roundRect">
            <a:avLst>
              <a:gd name="adj" fmla="val 10616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4791456"/>
            <a:ext cx="4745736" cy="10424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E"/>
                </a:solidFill>
                <a:latin typeface="Corbel"/>
              </a:rPr>
              <a:t>The consequence — why AASIST was needed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4A2E0A"/>
                </a:solidFill>
                <a:latin typeface="Corbel"/>
              </a:rPr>
              <a:t>At 41.12% on logical access, a replay detector is blind to synthesised and converted speech. A different countermeasure has to carry that attack, which is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HERATH H.M.M.P.B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Anti-spoofing
and the joint
SASV 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564891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802635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45C"/>
                </a:solidFill>
                <a:latin typeface="Corbel"/>
              </a:rPr>
              <a:t>A recording of the real user passes speaker verification. That is the hole the countermeasure has to close.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914400"/>
            <a:ext cx="665984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37744" indent="-237744">
              <a:lnSpc>
                <a:spcPct val="118000"/>
              </a:lnSpc>
              <a:spcAft>
                <a:spcPts val="1100"/>
              </a:spcAft>
            </a:pPr>
            <a:r>
              <a:rPr sz="1250" b="1" i="0">
                <a:solidFill>
                  <a:srgbClr val="B84E08"/>
                </a:solidFill>
                <a:latin typeface="Corbel"/>
              </a:rPr>
              <a:t>—	</a:t>
            </a:r>
            <a:r>
              <a:rPr sz="1250" b="0" i="0">
                <a:solidFill>
                  <a:srgbClr val="1C1C1E"/>
                </a:solidFill>
                <a:latin typeface="Corbel"/>
              </a:rPr>
              <a:t>Evaluated on ASVspoof 2019 LA with the official SASV 2022 trial lists</a:t>
            </a:r>
          </a:p>
          <a:p>
            <a:pPr marL="237744" indent="-237744">
              <a:lnSpc>
                <a:spcPct val="118000"/>
              </a:lnSpc>
              <a:spcAft>
                <a:spcPts val="1100"/>
              </a:spcAft>
            </a:pPr>
            <a:r>
              <a:rPr sz="1250" b="1" i="0">
                <a:solidFill>
                  <a:srgbClr val="B84E08"/>
                </a:solidFill>
                <a:latin typeface="Corbel"/>
              </a:rPr>
              <a:t>—	</a:t>
            </a:r>
            <a:r>
              <a:rPr sz="1250" b="0" i="0">
                <a:solidFill>
                  <a:srgbClr val="1C1C1E"/>
                </a:solidFill>
                <a:latin typeface="Corbel"/>
              </a:rPr>
              <a:t>MUSAN noise added on the test side only, at clean / 15 / 10 / 5 / 0 dB</a:t>
            </a:r>
          </a:p>
          <a:p>
            <a:pPr marL="237744" indent="-237744">
              <a:lnSpc>
                <a:spcPct val="118000"/>
              </a:lnSpc>
              <a:spcAft>
                <a:spcPts val="1100"/>
              </a:spcAft>
            </a:pPr>
            <a:r>
              <a:rPr sz="1250" b="1" i="0">
                <a:solidFill>
                  <a:srgbClr val="B84E08"/>
                </a:solidFill>
                <a:latin typeface="Corbel"/>
              </a:rPr>
              <a:t>—	</a:t>
            </a:r>
            <a:r>
              <a:rPr sz="1250" b="0" i="0">
                <a:solidFill>
                  <a:srgbClr val="1C1C1E"/>
                </a:solidFill>
                <a:latin typeface="Corbel"/>
              </a:rPr>
              <a:t>Tuned on dev, locked the evaluation set once, with no further tuning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846320" y="2798064"/>
          <a:ext cx="6656832" cy="1773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5376672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BF6EC"/>
                          </a:solidFill>
                          <a:latin typeface="Bahnschrift SemiBold Condensed"/>
                        </a:rPr>
                        <a:t>System</a:t>
                      </a:r>
                    </a:p>
                  </a:txBody>
                  <a:tcPr anchor="ctr" marL="128016" marR="91440" marT="18288" marB="18288">
                    <a:solidFill>
                      <a:srgbClr val="B84E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BF6EC"/>
                          </a:solidFill>
                          <a:latin typeface="Bahnschrift SemiBold Condensed"/>
                        </a:rPr>
                        <a:t>What it combines</a:t>
                      </a:r>
                    </a:p>
                  </a:txBody>
                  <a:tcPr anchor="ctr" marL="128016" marR="91440" marT="18288" marB="18288">
                    <a:solidFill>
                      <a:srgbClr val="B84E0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B0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ECAPA speaker score only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B1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ECAPA + AASIST countermeasure (α = 0.30)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P2 / P3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C1C1E"/>
                          </a:solidFill>
                          <a:latin typeface="Corbel"/>
                        </a:rPr>
                        <a:t>SNR-gated and always-on enhancement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846320" y="4809744"/>
            <a:ext cx="2093976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5047488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SV-EER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target vs non-target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4809744"/>
            <a:ext cx="2093976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5047488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SPF-EER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target vs spoof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4809744"/>
            <a:ext cx="2093976" cy="1225296"/>
          </a:xfrm>
          <a:prstGeom prst="roundRect">
            <a:avLst>
              <a:gd name="adj" fmla="val 11567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6064" y="5047488"/>
            <a:ext cx="1645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SASV-EER</a:t>
            </a:r>
          </a:p>
          <a:p>
            <a:pPr algn="l">
              <a:lnSpc>
                <a:spcPct val="114000"/>
              </a:lnSpc>
              <a:spcAft>
                <a:spcPts val="7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both at once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HERATH H.M.M.P.B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One clear win, one honest failure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9509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50" b="0" i="0">
                <a:solidFill>
                  <a:srgbClr val="6B645C"/>
                </a:solidFill>
                <a:latin typeface="Corbel"/>
              </a:rPr>
              <a:t>Locked evaluation on clean audio, then the same systems under test-side noise.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121408"/>
            <a:ext cx="3749039" cy="13558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0" b="1" i="0">
                <a:solidFill>
                  <a:srgbClr val="0C7C46"/>
                </a:solidFill>
                <a:latin typeface="Sitka Display"/>
              </a:rPr>
              <a:t>0.83%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87583"/>
            <a:ext cx="374903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1" i="0" spc="160">
                <a:solidFill>
                  <a:srgbClr val="1C1C1E"/>
                </a:solidFill>
                <a:latin typeface="Bahnschrift SemiBold Condensed"/>
              </a:rPr>
              <a:t>SASV-EER WITH AASIST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61903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down from 20.67% for ECAPA alone, and better than the published 1.71% baseline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160520" y="1993392"/>
          <a:ext cx="370332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101583" y="1993392"/>
            <a:ext cx="3401568" cy="2331720"/>
          </a:xfrm>
          <a:prstGeom prst="roundRect">
            <a:avLst>
              <a:gd name="adj" fmla="val 6078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02752" y="2212848"/>
            <a:ext cx="50292" cy="1892807"/>
          </a:xfrm>
          <a:prstGeom prst="roundRect">
            <a:avLst>
              <a:gd name="adj" fmla="val 50000"/>
            </a:avLst>
          </a:prstGeom>
          <a:solidFill>
            <a:srgbClr val="0C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2139696"/>
            <a:ext cx="2743200" cy="2039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E"/>
                </a:solidFill>
                <a:latin typeface="Corbel"/>
              </a:rPr>
              <a:t>Result 1 — the countermeasure is essential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A strong speaker encoder on its own fails against spoofed speech, at 27% spoof error. Fusing AASIST with a tuned weight closes it.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160520" y="4572000"/>
          <a:ext cx="3703320" cy="1517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028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BF6EC"/>
                          </a:solidFill>
                          <a:latin typeface="Bahnschrift SemiBold Condensed"/>
                        </a:rPr>
                        <a:t>System @ 15 dB</a:t>
                      </a:r>
                    </a:p>
                  </a:txBody>
                  <a:tcPr anchor="ctr" marL="128016" marR="91440" marT="18288" marB="18288">
                    <a:solidFill>
                      <a:srgbClr val="B84E0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BF6EC"/>
                          </a:solidFill>
                          <a:latin typeface="Bahnschrift SemiBold Condensed"/>
                        </a:rPr>
                        <a:t>SASV-EER</a:t>
                      </a:r>
                    </a:p>
                  </a:txBody>
                  <a:tcPr anchor="ctr" marL="128016" marR="91440" marT="18288" marB="18288">
                    <a:solidFill>
                      <a:srgbClr val="B84E0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orbel"/>
                        </a:rPr>
                        <a:t>B0 raw ECAPA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C1C1E"/>
                          </a:solidFill>
                          <a:latin typeface="Corbel"/>
                        </a:rPr>
                        <a:t>16.91%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orbel"/>
                        </a:rPr>
                        <a:t>P2 gated enhance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D4213D"/>
                          </a:solidFill>
                          <a:latin typeface="Corbel"/>
                        </a:rPr>
                        <a:t>16.93%</a:t>
                      </a:r>
                    </a:p>
                  </a:txBody>
                  <a:tcPr anchor="ctr" marL="128016" marR="91440" marT="18288" marB="18288">
                    <a:solidFill>
                      <a:srgbClr val="FDEED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C1C1E"/>
                          </a:solidFill>
                          <a:latin typeface="Corbel"/>
                        </a:rPr>
                        <a:t>P3 always enhance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D4213D"/>
                          </a:solidFill>
                          <a:latin typeface="Corbel"/>
                        </a:rPr>
                        <a:t>23.11%</a:t>
                      </a:r>
                    </a:p>
                  </a:txBody>
                  <a:tcPr anchor="ctr" marL="128016" marR="91440" marT="18288" marB="18288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8101583" y="4572000"/>
            <a:ext cx="3401568" cy="1536192"/>
          </a:xfrm>
          <a:prstGeom prst="roundRect">
            <a:avLst>
              <a:gd name="adj" fmla="val 9226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02752" y="4791456"/>
            <a:ext cx="50292" cy="1097280"/>
          </a:xfrm>
          <a:prstGeom prst="roundRect">
            <a:avLst>
              <a:gd name="adj" fmla="val 50000"/>
            </a:avLst>
          </a:prstGeom>
          <a:solidFill>
            <a:srgbClr val="D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22208" y="4718304"/>
            <a:ext cx="2743200" cy="12435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E"/>
                </a:solidFill>
                <a:latin typeface="Corbel"/>
              </a:rPr>
              <a:t>Result 2 — an honest negative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6B645C"/>
                </a:solidFill>
                <a:latin typeface="Corbel"/>
              </a:rPr>
              <a:t>Gating the enhancer by estimated SNR did not beat raw ECAPA on SASV, and always enhancing was clearly worse.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RESEARCH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How the three tracks fit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75104"/>
            <a:ext cx="3456432" cy="2103120"/>
          </a:xfrm>
          <a:prstGeom prst="roundRect">
            <a:avLst>
              <a:gd name="adj" fmla="val 6739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1975104"/>
            <a:ext cx="3456432" cy="6400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2121408"/>
            <a:ext cx="2871216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700"/>
              </a:spcAft>
            </a:pPr>
            <a:r>
              <a:rPr sz="950" b="1" i="0" spc="160">
                <a:solidFill>
                  <a:srgbClr val="B84E08"/>
                </a:solidFill>
                <a:latin typeface="Bahnschrift SemiBold Condensed"/>
              </a:rPr>
              <a:t>IDENTITY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50" b="1" i="0">
                <a:solidFill>
                  <a:srgbClr val="1C1C1E"/>
                </a:solidFill>
                <a:latin typeface="Sitka Display"/>
              </a:rPr>
              <a:t>Is this the same speaker?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ECAPA and TitaNet embeddings, VAD gating and a pgvector template store.</a:t>
            </a:r>
          </a:p>
          <a:p>
            <a:pPr>
              <a:spcAft>
                <a:spcPts val="0"/>
              </a:spcAft>
            </a:pPr>
            <a:r>
              <a:rPr sz="900" b="1" i="0" spc="160">
                <a:solidFill>
                  <a:srgbClr val="B84E08"/>
                </a:solidFill>
                <a:latin typeface="Bahnschrift SemiBold Condensed"/>
              </a:rPr>
              <a:t>MUDITHA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1975104"/>
            <a:ext cx="3456432" cy="2103120"/>
          </a:xfrm>
          <a:prstGeom prst="roundRect">
            <a:avLst>
              <a:gd name="adj" fmla="val 6739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70832" y="1975104"/>
            <a:ext cx="3456432" cy="6400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121408"/>
            <a:ext cx="2871216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700"/>
              </a:spcAft>
            </a:pPr>
            <a:r>
              <a:rPr sz="950" b="1" i="0" spc="160">
                <a:solidFill>
                  <a:srgbClr val="B84E08"/>
                </a:solidFill>
                <a:latin typeface="Bahnschrift SemiBold Condensed"/>
              </a:rPr>
              <a:t>ROBUSTNESS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50" b="1" i="0">
                <a:solidFill>
                  <a:srgbClr val="1C1C1E"/>
                </a:solidFill>
                <a:latin typeface="Sitka Display"/>
              </a:rPr>
              <a:t>Can we still verify in noise?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A task-tuned Wave-U-Net plus learned fusion of raw and enhanced embeddings.</a:t>
            </a:r>
          </a:p>
          <a:p>
            <a:pPr>
              <a:spcAft>
                <a:spcPts val="0"/>
              </a:spcAft>
            </a:pPr>
            <a:r>
              <a:rPr sz="900" b="1" i="0" spc="160">
                <a:solidFill>
                  <a:srgbClr val="B84E08"/>
                </a:solidFill>
                <a:latin typeface="Bahnschrift SemiBold Condensed"/>
              </a:rPr>
              <a:t>YASITH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5864" y="1975104"/>
            <a:ext cx="3456432" cy="2103120"/>
          </a:xfrm>
          <a:prstGeom prst="roundRect">
            <a:avLst>
              <a:gd name="adj" fmla="val 6739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55864" y="1975104"/>
            <a:ext cx="3456432" cy="6400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2121408"/>
            <a:ext cx="2871216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700"/>
              </a:spcAft>
            </a:pPr>
            <a:r>
              <a:rPr sz="950" b="1" i="0" spc="160">
                <a:solidFill>
                  <a:srgbClr val="B84E08"/>
                </a:solidFill>
                <a:latin typeface="Bahnschrift SemiBold Condensed"/>
              </a:rPr>
              <a:t>SECURITY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450" b="1" i="0">
                <a:solidFill>
                  <a:srgbClr val="1C1C1E"/>
                </a:solidFill>
                <a:latin typeface="Sitka Display"/>
              </a:rPr>
              <a:t>Is the audio real?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050" b="0" i="0">
                <a:solidFill>
                  <a:srgbClr val="6B645C"/>
                </a:solidFill>
                <a:latin typeface="Corbel"/>
              </a:rPr>
              <a:t>A replay CNN and the AASIST countermeasure fused into a joint SASV decision.</a:t>
            </a:r>
          </a:p>
          <a:p>
            <a:pPr>
              <a:spcAft>
                <a:spcPts val="0"/>
              </a:spcAft>
            </a:pPr>
            <a:r>
              <a:rPr sz="900" b="1" i="0" spc="160">
                <a:solidFill>
                  <a:srgbClr val="B84E08"/>
                </a:solidFill>
                <a:latin typeface="Bahnschrift SemiBold Condensed"/>
              </a:rPr>
              <a:t>H.M.M.P.B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15968"/>
            <a:ext cx="10820369" cy="1572768"/>
          </a:xfrm>
          <a:prstGeom prst="roundRect">
            <a:avLst>
              <a:gd name="adj" fmla="val 9011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62272"/>
            <a:ext cx="1030830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E"/>
                </a:solidFill>
                <a:latin typeface="Corbel"/>
              </a:rPr>
              <a:t>Reconciling the two enhancement findings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4A2E0A"/>
                </a:solidFill>
                <a:latin typeface="Corbel"/>
              </a:rPr>
              <a:t>Learned fusion improved speaker verification under MUSAN noise on VoxCeleb1, while a simple SNR-gated enhancer failed on the SASV task on ASVspoof LA. These are different protocols, different attacks and different decision rules, so both results stand: enhancement pays off only when the blend is learned for the exact task.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32688"/>
            <a:ext cx="361188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The system
in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488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386584"/>
            <a:ext cx="3611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250" b="0" i="0">
                <a:solidFill>
                  <a:srgbClr val="6B645C"/>
                </a:solidFill>
                <a:latin typeface="Corbel"/>
              </a:rPr>
              <a:t>Enroll once, verify in a second, and watch a replayed recording get turned away.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26</a:t>
            </a:r>
          </a:p>
        </p:txBody>
      </p:sp>
      <p:pic>
        <p:nvPicPr>
          <p:cNvPr id="15" name="Picture 14" descr="v3_demo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46320" y="932688"/>
            <a:ext cx="6659849" cy="3746165"/>
          </a:xfrm>
          <a:prstGeom prst="roundRect">
            <a:avLst>
              <a:gd name="adj" fmla="val 3783"/>
            </a:avLst>
          </a:prstGeom>
        </p:spPr>
      </p:pic>
      <p:sp>
        <p:nvSpPr>
          <p:cNvPr id="16" name="TextBox 15"/>
          <p:cNvSpPr txBox="1"/>
          <p:nvPr/>
        </p:nvSpPr>
        <p:spPr>
          <a:xfrm>
            <a:off x="4846320" y="4773168"/>
            <a:ext cx="665984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37744" indent="-237744">
              <a:lnSpc>
                <a:spcPct val="118000"/>
              </a:lnSpc>
              <a:spcAft>
                <a:spcPts val="700"/>
              </a:spcAft>
            </a:pPr>
            <a:r>
              <a:rPr sz="1150" b="1" i="0">
                <a:solidFill>
                  <a:srgbClr val="B84E08"/>
                </a:solidFill>
                <a:latin typeface="Corbel"/>
              </a:rPr>
              <a:t>—	</a:t>
            </a:r>
            <a:r>
              <a:rPr sz="1150" b="0" i="0">
                <a:solidFill>
                  <a:srgbClr val="1C1C1E"/>
                </a:solidFill>
                <a:latin typeface="Corbel"/>
              </a:rPr>
              <a:t>Sign in, then enroll with a few short recordings</a:t>
            </a:r>
          </a:p>
          <a:p>
            <a:pPr marL="237744" indent="-237744">
              <a:lnSpc>
                <a:spcPct val="118000"/>
              </a:lnSpc>
              <a:spcAft>
                <a:spcPts val="700"/>
              </a:spcAft>
            </a:pPr>
            <a:r>
              <a:rPr sz="1150" b="1" i="0">
                <a:solidFill>
                  <a:srgbClr val="B84E08"/>
                </a:solidFill>
                <a:latin typeface="Corbel"/>
              </a:rPr>
              <a:t>—	</a:t>
            </a:r>
            <a:r>
              <a:rPr sz="1150" b="0" i="0">
                <a:solidFill>
                  <a:srgbClr val="1C1C1E"/>
                </a:solidFill>
                <a:latin typeface="Corbel"/>
              </a:rPr>
              <a:t>Verify with a fresh recording and read the score</a:t>
            </a:r>
          </a:p>
          <a:p>
            <a:pPr marL="237744" indent="-237744">
              <a:lnSpc>
                <a:spcPct val="118000"/>
              </a:lnSpc>
              <a:spcAft>
                <a:spcPts val="700"/>
              </a:spcAft>
            </a:pPr>
            <a:r>
              <a:rPr sz="1150" b="1" i="0">
                <a:solidFill>
                  <a:srgbClr val="B84E08"/>
                </a:solidFill>
                <a:latin typeface="Corbel"/>
              </a:rPr>
              <a:t>—	</a:t>
            </a:r>
            <a:r>
              <a:rPr sz="1150" b="0" i="0">
                <a:solidFill>
                  <a:srgbClr val="1C1C1E"/>
                </a:solidFill>
                <a:latin typeface="Corbel"/>
              </a:rPr>
              <a:t>Replay a recording into the mic and watch it be rejected</a:t>
            </a:r>
          </a:p>
          <a:p>
            <a:pPr marL="237744" indent="-237744">
              <a:lnSpc>
                <a:spcPct val="118000"/>
              </a:lnSpc>
              <a:spcAft>
                <a:spcPts val="700"/>
              </a:spcAft>
            </a:pPr>
            <a:r>
              <a:rPr sz="1150" b="1" i="0">
                <a:solidFill>
                  <a:srgbClr val="B84E08"/>
                </a:solidFill>
                <a:latin typeface="Corbel"/>
              </a:rPr>
              <a:t>—	</a:t>
            </a:r>
            <a:r>
              <a:rPr sz="1150" b="0" i="0">
                <a:solidFill>
                  <a:srgbClr val="1C1C1E"/>
                </a:solidFill>
                <a:latin typeface="Corbel"/>
              </a:rPr>
              <a:t>Push to main and see the cloud stack rebuild itself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46320"/>
            <a:ext cx="3611880" cy="1188720"/>
          </a:xfrm>
          <a:prstGeom prst="roundRect">
            <a:avLst>
              <a:gd name="adj" fmla="val 11923"/>
            </a:avLst>
          </a:prstGeom>
          <a:solidFill>
            <a:srgbClr val="FDEEDF"/>
          </a:solidFill>
          <a:ln w="11430">
            <a:solidFill>
              <a:srgbClr val="FADD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" y="5065776"/>
            <a:ext cx="50292" cy="749808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6424" y="4992624"/>
            <a:ext cx="2953512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250" b="1" i="0">
                <a:solidFill>
                  <a:srgbClr val="1C1C1E"/>
                </a:solidFill>
                <a:latin typeface="Corbel"/>
              </a:rPr>
              <a:t>If the room audio is bad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4A2E0A"/>
                </a:solidFill>
                <a:latin typeface="Corbel"/>
              </a:rPr>
              <a:t>Play the recorded walkthrough, then show the green deployment run and the live service.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66928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229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100" b="1" i="0">
                <a:solidFill>
                  <a:srgbClr val="1C1C1E"/>
                </a:solidFill>
                <a:latin typeface="Sitka Display"/>
              </a:rPr>
              <a:t>Limitations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63040"/>
            <a:ext cx="1325880" cy="41148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969" cy="82296"/>
          </a:xfrm>
          <a:prstGeom prst="rect">
            <a:avLst/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6355080"/>
            <a:ext cx="10820369" cy="10972"/>
          </a:xfrm>
          <a:prstGeom prst="rect">
            <a:avLst/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648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850" b="0" i="0">
                <a:solidFill>
                  <a:srgbClr val="A9A194"/>
                </a:solidFill>
                <a:latin typeface="Corbel"/>
              </a:rPr>
              <a:t>Voice-Based Speaker Verification for Secure User Authentication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29216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40112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51008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8D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661904" y="6547104"/>
            <a:ext cx="256032" cy="56692"/>
          </a:xfrm>
          <a:prstGeom prst="roundRect">
            <a:avLst>
              <a:gd name="adj" fmla="val 50000"/>
            </a:avLst>
          </a:prstGeom>
          <a:solidFill>
            <a:srgbClr val="EE72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18520" y="6446520"/>
            <a:ext cx="484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A9A194"/>
                </a:solidFill>
                <a:latin typeface="Bahnschrift SemiBold Condensed"/>
              </a:rPr>
              <a:t>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65376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D4213D"/>
                </a:solidFill>
                <a:latin typeface="Bahnschrift SemiBold Condensed"/>
              </a:rPr>
              <a:t>WHAT WE WOULD NOT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865376"/>
            <a:ext cx="5257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00" b="1" i="0" spc="160">
                <a:solidFill>
                  <a:srgbClr val="B84E08"/>
                </a:solidFill>
                <a:latin typeface="Bahnschrift SemiBold Condensed"/>
              </a:rPr>
              <a:t>WHAT WE WOULD DO NEXT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231136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5256" y="2423160"/>
            <a:ext cx="45720" cy="402336"/>
          </a:xfrm>
          <a:prstGeom prst="roundRect">
            <a:avLst>
              <a:gd name="adj" fmla="val 50000"/>
            </a:avLst>
          </a:prstGeom>
          <a:solidFill>
            <a:srgbClr val="D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" y="223113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E"/>
                </a:solidFill>
                <a:latin typeface="Corbel"/>
              </a:rPr>
              <a:t>EER values come from different protocols and are not directly comparable across tracks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2231136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64808" y="2423160"/>
            <a:ext cx="45720" cy="402336"/>
          </a:xfrm>
          <a:prstGeom prst="roundRect">
            <a:avLst>
              <a:gd name="adj" fmla="val 50000"/>
            </a:avLst>
          </a:prstGeom>
          <a:solidFill>
            <a:srgbClr val="0C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84264" y="2231136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E"/>
                </a:solidFill>
                <a:latin typeface="Corbel"/>
              </a:rPr>
              <a:t>Apply the learned fusion to the SASV task instead of a fixed SNR gate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127248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" y="3319272"/>
            <a:ext cx="45720" cy="402336"/>
          </a:xfrm>
          <a:prstGeom prst="roundRect">
            <a:avLst>
              <a:gd name="adj" fmla="val 50000"/>
            </a:avLst>
          </a:prstGeom>
          <a:solidFill>
            <a:srgbClr val="D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24712" y="3127248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E"/>
                </a:solidFill>
                <a:latin typeface="Corbel"/>
              </a:rPr>
              <a:t>Noise was applied mainly on the test side while enrollment stayed clean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3127248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64808" y="3319272"/>
            <a:ext cx="45720" cy="402336"/>
          </a:xfrm>
          <a:prstGeom prst="roundRect">
            <a:avLst>
              <a:gd name="adj" fmla="val 50000"/>
            </a:avLst>
          </a:prstGeom>
          <a:solidFill>
            <a:srgbClr val="0C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84264" y="3127248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E"/>
                </a:solidFill>
                <a:latin typeface="Corbel"/>
              </a:rPr>
              <a:t>Complete the countermeasure-under-noise matrix and lock it once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023360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5256" y="4215384"/>
            <a:ext cx="45720" cy="402336"/>
          </a:xfrm>
          <a:prstGeom prst="roundRect">
            <a:avLst>
              <a:gd name="adj" fmla="val 50000"/>
            </a:avLst>
          </a:prstGeom>
          <a:solidFill>
            <a:srgbClr val="D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4712" y="402336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E"/>
                </a:solidFill>
                <a:latin typeface="Corbel"/>
              </a:rPr>
              <a:t>Replay detection does not transfer across corpora, so new microphones and rooms need their own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4023360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64808" y="4215384"/>
            <a:ext cx="45720" cy="402336"/>
          </a:xfrm>
          <a:prstGeom prst="roundRect">
            <a:avLst>
              <a:gd name="adj" fmla="val 50000"/>
            </a:avLst>
          </a:prstGeom>
          <a:solidFill>
            <a:srgbClr val="0C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84264" y="4023360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E"/>
                </a:solidFill>
                <a:latin typeface="Corbel"/>
              </a:rPr>
              <a:t>Calibrate thresholds per SNR band so the decision stays stable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919472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5256" y="5111496"/>
            <a:ext cx="45720" cy="402336"/>
          </a:xfrm>
          <a:prstGeom prst="roundRect">
            <a:avLst>
              <a:gd name="adj" fmla="val 50000"/>
            </a:avLst>
          </a:prstGeom>
          <a:solidFill>
            <a:srgbClr val="D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24712" y="491947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E"/>
                </a:solidFill>
                <a:latin typeface="Corbel"/>
              </a:rPr>
              <a:t>Parts of the noisy-SASV grid are smoke-scale rather than full runs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45352" y="4919472"/>
            <a:ext cx="5257800" cy="786384"/>
          </a:xfrm>
          <a:prstGeom prst="roundRect">
            <a:avLst>
              <a:gd name="adj" fmla="val 18023"/>
            </a:avLst>
          </a:prstGeom>
          <a:solidFill>
            <a:srgbClr val="FFFFFF"/>
          </a:solidFill>
          <a:ln w="11430">
            <a:solidFill>
              <a:srgbClr val="E8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64808" y="5111496"/>
            <a:ext cx="45720" cy="402336"/>
          </a:xfrm>
          <a:prstGeom prst="roundRect">
            <a:avLst>
              <a:gd name="adj" fmla="val 50000"/>
            </a:avLst>
          </a:prstGeom>
          <a:solidFill>
            <a:srgbClr val="0C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84264" y="4919472"/>
            <a:ext cx="4617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100" b="0" i="0">
                <a:solidFill>
                  <a:srgbClr val="1C1C1E"/>
                </a:solidFill>
                <a:latin typeface="Corbel"/>
              </a:rPr>
              <a:t>Finish the TitaNet comparison and collect real device recordings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70448"/>
            <a:ext cx="1082036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00" b="1" i="0">
                <a:solidFill>
                  <a:srgbClr val="1C1C1E"/>
                </a:solidFill>
                <a:latin typeface="Bahnschrift SemiBold Condensed"/>
              </a:rPr>
              <a:t>REPORTING DISCIPLINE     </a:t>
            </a:r>
            <a:r>
              <a:rPr sz="1150" b="0" i="0">
                <a:solidFill>
                  <a:srgbClr val="6B645C"/>
                </a:solidFill>
                <a:latin typeface="Corbel"/>
              </a:rPr>
              <a:t>every number in this deck comes from a run we can reproduce, including the experiments that did not work.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30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3_closin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969" cy="68579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680" y="65836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 i="0" spc="160">
                <a:solidFill>
                  <a:srgbClr val="FF8C2A"/>
                </a:solidFill>
                <a:latin typeface="Bahnschrift SemiBold Condensed"/>
              </a:rPr>
              <a:t>IN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87552"/>
            <a:ext cx="8503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800" b="1" i="0">
                <a:solidFill>
                  <a:srgbClr val="FBF6EC"/>
                </a:solidFill>
                <a:latin typeface="Sitka Display"/>
              </a:rPr>
              <a:t>Designed, measured, and deployed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48256"/>
            <a:ext cx="3200400" cy="1005840"/>
          </a:xfrm>
          <a:prstGeom prst="roundRect">
            <a:avLst>
              <a:gd name="adj" fmla="val 14090"/>
            </a:avLst>
          </a:prstGeom>
          <a:solidFill>
            <a:srgbClr val="221C16"/>
          </a:solidFill>
          <a:ln w="11430">
            <a:solidFill>
              <a:srgbClr val="3A31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" y="2231136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2FBF6B"/>
                </a:solidFill>
                <a:latin typeface="Sitka Display"/>
              </a:rPr>
              <a:t>0.83%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9A9084"/>
                </a:solidFill>
                <a:latin typeface="Corbel"/>
              </a:rPr>
              <a:t>joint SASV error, clean audio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048256"/>
            <a:ext cx="3200400" cy="1005840"/>
          </a:xfrm>
          <a:prstGeom prst="roundRect">
            <a:avLst>
              <a:gd name="adj" fmla="val 14090"/>
            </a:avLst>
          </a:prstGeom>
          <a:solidFill>
            <a:srgbClr val="221C16"/>
          </a:solidFill>
          <a:ln w="11430">
            <a:solidFill>
              <a:srgbClr val="3A31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2231136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2FBF6B"/>
                </a:solidFill>
                <a:latin typeface="Sitka Display"/>
              </a:rPr>
              <a:t>8.79%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9A9084"/>
                </a:solidFill>
                <a:latin typeface="Corbel"/>
              </a:rPr>
              <a:t>speaker error across all noise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048256"/>
            <a:ext cx="3200400" cy="1005840"/>
          </a:xfrm>
          <a:prstGeom prst="roundRect">
            <a:avLst>
              <a:gd name="adj" fmla="val 14090"/>
            </a:avLst>
          </a:prstGeom>
          <a:solidFill>
            <a:srgbClr val="221C16"/>
          </a:solidFill>
          <a:ln w="11430">
            <a:solidFill>
              <a:srgbClr val="3A31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2984" y="2231136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 i="0">
                <a:solidFill>
                  <a:srgbClr val="2FBF6B"/>
                </a:solidFill>
                <a:latin typeface="Sitka Display"/>
              </a:rPr>
              <a:t>0.54%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0" i="0">
                <a:solidFill>
                  <a:srgbClr val="9A9084"/>
                </a:solidFill>
                <a:latin typeface="Corbel"/>
              </a:rPr>
              <a:t>VoxCeleb error with gating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43984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00" b="0" i="0">
                <a:solidFill>
                  <a:srgbClr val="FF8C2A"/>
                </a:solidFill>
                <a:latin typeface="Corbel"/>
              </a:rPr>
              <a:t>We built the running product, measured every track on a standard protocol, reported the experiments that failed, and automated the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31536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600" b="1" i="0">
                <a:solidFill>
                  <a:srgbClr val="FBF6EC"/>
                </a:solidFill>
                <a:latin typeface="Sitka Display"/>
              </a:rPr>
              <a:t>Thank you — questions?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5614416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  <a:spcAft>
                <a:spcPts val="700"/>
              </a:spcAft>
            </a:pPr>
            <a:r>
              <a:rPr sz="1050" b="0" i="0">
                <a:solidFill>
                  <a:srgbClr val="9A9084"/>
                </a:solidFill>
                <a:latin typeface="Corbel"/>
              </a:rPr>
              <a:t>Muditha Herath  ·  Yasith Hewarathna  ·  Herath H.M.M.P.B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